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f8147e-3e37-655d-eb91-2e3eaefa14f8}">
          <p14:sldIdLst>
            <p14:sldId id="256"/>
            <p14:sldId id="257"/>
            <p14:sldId id="258"/>
          </p14:sldIdLst>
        </p14:section>
        <p14:section name="Approach" id="{38538359-b5b2-e2cb-1ab4-a5e260e25255}">
          <p14:sldIdLst>
            <p14:sldId id="259"/>
          </p14:sldIdLst>
        </p14:section>
        <p14:section name="Findings" id="{5442fe06-5dc0-b21e-379c-33b2da7de3b8}">
          <p14:sldIdLst>
            <p14:sldId id="260"/>
            <p14:sldId id="261"/>
            <p14:sldId id="262"/>
          </p14:sldIdLst>
        </p14:section>
        <p14:section name="Model and assistant" id="{512eabe9-b4ad-89e7-4abd-78f4a1550dd4}">
          <p14:sldIdLst>
            <p14:sldId id="263"/>
            <p14:sldId id="264"/>
            <p14:sldId id="265"/>
          </p14:sldIdLst>
        </p14:section>
        <p14:section name="Risk and next steps" id="{6dc191be-5548-3d14-0892-fce7bb365400}">
          <p14:sldIdLst>
            <p14:sldId id="266"/>
            <p14:sldId id="267"/>
          </p14:sldIdLst>
        </p14:section>
        <p14:section name="Appendix" id="{a55c3e2c-3c58-1d30-4914-3b54371428f2}">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Default rate</c:v>
                </c:pt>
              </c:strCache>
            </c:strRef>
          </c:tx>
          <c:spPr>
            <a:solidFill>
              <a:srgbClr val="C2412D"/>
            </a:solidFill>
            <a:effectLst/>
          </c:spPr>
          <c:invertIfNegative val="0"/>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C2412D"/>
              </a:solidFill>
              <a:effectLst/>
            </c:spPr>
          </c:dPt>
          <c:dPt>
            <c:idx val="1"/>
            <c:invertIfNegative val="0"/>
            <c:bubble3D val="0"/>
            <c:spPr>
              <a:solidFill>
                <a:srgbClr val="6F7C8F"/>
              </a:solidFill>
              <a:effectLst/>
            </c:spPr>
          </c:dPt>
          <c:dPt>
            <c:idx val="2"/>
            <c:invertIfNegative val="0"/>
            <c:bubble3D val="0"/>
            <c:spPr>
              <a:solidFill>
                <a:srgbClr val="6F7C8F"/>
              </a:solidFill>
              <a:effectLst/>
            </c:spPr>
          </c:dPt>
          <c:dPt>
            <c:idx val="3"/>
            <c:invertIfNegative val="0"/>
            <c:bubble3D val="0"/>
            <c:spPr>
              <a:solidFill>
                <a:srgbClr val="6F7C8F"/>
              </a:solidFill>
              <a:effectLst/>
            </c:spPr>
          </c:dPt>
          <c:dPt>
            <c:idx val="4"/>
            <c:invertIfNegative val="0"/>
            <c:bubble3D val="0"/>
            <c:spPr>
              <a:solidFill>
                <a:srgbClr val="6F7C8F"/>
              </a:solidFill>
              <a:effectLst/>
            </c:spPr>
          </c:dPt>
          <c:cat>
            <c:multiLvlStrRef>
              <c:f>Sheet1!$A$2:$A$6</c:f>
              <c:multiLvlStrCache>
                <c:ptCount val="5"/>
                <c:lvl>
                  <c:pt idx="0">
                    <c:v>Mortgage</c:v>
                  </c:pt>
                  <c:pt idx="1">
                    <c:v>Credit Card</c:v>
                  </c:pt>
                  <c:pt idx="2">
                    <c:v>Business Loan</c:v>
                  </c:pt>
                  <c:pt idx="3">
                    <c:v>Personal Loan</c:v>
                  </c:pt>
                  <c:pt idx="4">
                    <c:v>Auto Loan</c:v>
                  </c:pt>
                </c:lvl>
              </c:multiLvlStrCache>
            </c:multiLvlStrRef>
          </c:cat>
          <c:val>
            <c:numRef>
              <c:f>Sheet1!$B$2:$B$6</c:f>
              <c:numCache>
                <c:formatCode>General</c:formatCode>
                <c:ptCount val="5"/>
                <c:pt idx="0">
                  <c:v>0.2465083798882681</c:v>
                </c:pt>
                <c:pt idx="1">
                  <c:v>0.1620532115022843</c:v>
                </c:pt>
                <c:pt idx="2">
                  <c:v>0.160377358490566</c:v>
                </c:pt>
                <c:pt idx="3">
                  <c:v>0.1489647239263803</c:v>
                </c:pt>
                <c:pt idx="4">
                  <c:v>0.1387711864406779</c:v>
                </c:pt>
              </c:numCache>
            </c:numRef>
          </c:val>
        </c:ser>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3"/>
          <c:min val="0"/>
        </c:scaling>
        <c:delete val="1"/>
        <c:axPos val="b"/>
        <c:numFmt formatCode="0%" sourceLinked="0"/>
        <c:majorTickMark val="out"/>
        <c:minorTickMark val="none"/>
        <c:tickLblPos val="low"/>
        <c:spPr>
          <a:ln w="12700" cap="flat">
            <a:noFill/>
            <a:prstDash val="solid"/>
            <a:round/>
          </a:ln>
        </c:spPr>
        <c:txPr>
          <a:bodyPr/>
          <a:lstStyle/>
          <a:p>
            <a:pPr>
              <a:defRPr sz="1100" b="0" i="0" u="none" strike="noStrike">
                <a:solidFill>
                  <a:srgbClr val="6F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 rate</c:v>
                </c:pt>
              </c:strCache>
            </c:strRef>
          </c:tx>
          <c:spPr>
            <a:solidFill>
              <a:srgbClr val="C2412D"/>
            </a:solidFill>
            <a:effectLst/>
          </c:spPr>
          <c:invertIfNegative val="0"/>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C2412D"/>
              </a:solidFill>
              <a:effectLst/>
            </c:spPr>
          </c:dPt>
          <c:dPt>
            <c:idx val="1"/>
            <c:invertIfNegative val="0"/>
            <c:bubble3D val="0"/>
            <c:spPr>
              <a:solidFill>
                <a:srgbClr val="C2412D"/>
              </a:solidFill>
              <a:effectLst/>
            </c:spPr>
          </c:dPt>
          <c:dPt>
            <c:idx val="2"/>
            <c:invertIfNegative val="0"/>
            <c:bubble3D val="0"/>
            <c:spPr>
              <a:solidFill>
                <a:srgbClr val="6F7C8F"/>
              </a:solidFill>
              <a:effectLst/>
            </c:spPr>
          </c:dPt>
          <c:dPt>
            <c:idx val="3"/>
            <c:invertIfNegative val="0"/>
            <c:bubble3D val="0"/>
            <c:spPr>
              <a:solidFill>
                <a:srgbClr val="6F7C8F"/>
              </a:solidFill>
              <a:effectLst/>
            </c:spPr>
          </c:dPt>
          <c:dPt>
            <c:idx val="4"/>
            <c:invertIfNegative val="0"/>
            <c:bubble3D val="0"/>
            <c:spPr>
              <a:solidFill>
                <a:srgbClr val="6F7C8F"/>
              </a:solidFill>
              <a:effectLst/>
            </c:spPr>
          </c:dPt>
          <c:cat>
            <c:multiLvlStrRef>
              <c:f>Sheet1!$A$2:$A$6</c:f>
              <c:multiLvlStrCache>
                <c:ptCount val="5"/>
                <c:lvl>
                  <c:pt idx="0">
                    <c:v>&lt; $30k</c:v>
                  </c:pt>
                  <c:pt idx="1">
                    <c:v>$30-60k</c:v>
                  </c:pt>
                  <c:pt idx="2">
                    <c:v>$60-90k</c:v>
                  </c:pt>
                  <c:pt idx="3">
                    <c:v>$90-120k</c:v>
                  </c:pt>
                  <c:pt idx="4">
                    <c:v>$120k+</c:v>
                  </c:pt>
                </c:lvl>
              </c:multiLvlStrCache>
            </c:multiLvlStrRef>
          </c:cat>
          <c:val>
            <c:numRef>
              <c:f>Sheet1!$B$2:$B$6</c:f>
              <c:numCache>
                <c:formatCode>General</c:formatCode>
                <c:ptCount val="5"/>
                <c:pt idx="0">
                  <c:v>0.3866666666666666</c:v>
                </c:pt>
                <c:pt idx="1">
                  <c:v>0.2307414104882459</c:v>
                </c:pt>
                <c:pt idx="2">
                  <c:v>0.1588656807440158</c:v>
                </c:pt>
                <c:pt idx="3">
                  <c:v>0.109015188633023</c:v>
                </c:pt>
                <c:pt idx="4">
                  <c:v>0.0784077201447527</c:v>
                </c:pt>
              </c:numCache>
            </c:numRef>
          </c:val>
        </c:ser>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45"/>
          <c:min val="0"/>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F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 rate</c:v>
                </c:pt>
              </c:strCache>
            </c:strRef>
          </c:tx>
          <c:spPr>
            <a:solidFill>
              <a:srgbClr val="6F7C8F"/>
            </a:solidFill>
            <a:effectLst/>
          </c:spPr>
          <c:invertIfNegative val="0"/>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6F7C8F"/>
              </a:solidFill>
              <a:effectLst/>
            </c:spPr>
          </c:dPt>
          <c:dPt>
            <c:idx val="1"/>
            <c:invertIfNegative val="0"/>
            <c:bubble3D val="0"/>
            <c:spPr>
              <a:solidFill>
                <a:srgbClr val="6F7C8F"/>
              </a:solidFill>
              <a:effectLst/>
            </c:spPr>
          </c:dPt>
          <c:dPt>
            <c:idx val="2"/>
            <c:invertIfNegative val="0"/>
            <c:bubble3D val="0"/>
            <c:spPr>
              <a:solidFill>
                <a:srgbClr val="6F7C8F"/>
              </a:solidFill>
              <a:effectLst/>
            </c:spPr>
          </c:dPt>
          <c:dPt>
            <c:idx val="3"/>
            <c:invertIfNegative val="0"/>
            <c:bubble3D val="0"/>
            <c:spPr>
              <a:solidFill>
                <a:srgbClr val="C2412D"/>
              </a:solidFill>
              <a:effectLst/>
            </c:spPr>
          </c:dPt>
          <c:dPt>
            <c:idx val="4"/>
            <c:invertIfNegative val="0"/>
            <c:bubble3D val="0"/>
            <c:spPr>
              <a:solidFill>
                <a:srgbClr val="CBD3DD"/>
              </a:solidFill>
              <a:effectLst/>
            </c:spPr>
          </c:dPt>
          <c:cat>
            <c:multiLvlStrRef>
              <c:f>Sheet1!$A$2:$A$6</c:f>
              <c:multiLvlStrCache>
                <c:ptCount val="5"/>
                <c:lvl>
                  <c:pt idx="0">
                    <c:v>None</c:v>
                  </c:pt>
                  <c:pt idx="1">
                    <c:v>1</c:v>
                  </c:pt>
                  <c:pt idx="2">
                    <c:v>2</c:v>
                  </c:pt>
                  <c:pt idx="3">
                    <c:v>3 or more</c:v>
                  </c:pt>
                  <c:pt idx="4">
                    <c:v>No bureau record</c:v>
                  </c:pt>
                </c:lvl>
              </c:multiLvlStrCache>
            </c:multiLvlStrRef>
          </c:cat>
          <c:val>
            <c:numRef>
              <c:f>Sheet1!$B$2:$B$6</c:f>
              <c:numCache>
                <c:formatCode>General</c:formatCode>
                <c:ptCount val="5"/>
                <c:pt idx="0">
                  <c:v>0.1459078711985688</c:v>
                </c:pt>
                <c:pt idx="1">
                  <c:v>0.1774744027303754</c:v>
                </c:pt>
                <c:pt idx="2">
                  <c:v>0.2193645990922844</c:v>
                </c:pt>
                <c:pt idx="3">
                  <c:v>0.3137254901960784</c:v>
                </c:pt>
                <c:pt idx="4">
                  <c:v>0.1764705882352941</c:v>
                </c:pt>
              </c:numCache>
            </c:numRef>
          </c:val>
        </c:ser>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45"/>
          <c:min val="0"/>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F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Cohort default rate</c:v>
                </c:pt>
              </c:strCache>
            </c:strRef>
          </c:tx>
          <c:spPr>
            <a:solidFill>
              <a:srgbClr val="007C99"/>
            </a:solidFill>
            <a:ln w="31750" cap="flat">
              <a:solidFill>
                <a:srgbClr val="007C99"/>
              </a:solidFill>
              <a:prstDash val="solid"/>
              <a:round/>
            </a:ln>
            <a:effectLst/>
          </c:spPr>
          <c:invertIfNegative val="0"/>
          <c:dLbls>
            <c:numFmt formatCode="#,##0" sourceLinked="0"/>
            <c:txPr>
              <a:bodyPr/>
              <a:lstStyle/>
              <a:p>
                <a:pPr>
                  <a:defRPr b="0" i="0" strike="noStrike" sz="1200" u="none">
                    <a:solidFill>
                      <a:srgbClr val="1B2333"/>
                    </a:solidFill>
                    <a:latin typeface="+mn-lt"/>
                  </a:defRPr>
                </a:pPr>
              </a:p>
            </c:txPr>
            <c:showLegendKey val="0"/>
            <c:showVal val="0"/>
            <c:showCatName val="0"/>
            <c:showSerName val="0"/>
            <c:showPercent val="0"/>
            <c:showBubbleSize val="0"/>
            <c:showLeaderLines val="0"/>
          </c:dLbls>
          <c:marker>
            <c:symbol val="circle"/>
            <c:size val="7"/>
            <c:spPr>
              <a:solidFill>
                <a:srgbClr val="007C99"/>
              </a:solidFill>
              <a:ln w="9525" cap="flat">
                <a:solidFill>
                  <a:srgbClr val="007C99"/>
                </a:solidFill>
                <a:prstDash val="solid"/>
                <a:round/>
              </a:ln>
              <a:effectLst/>
            </c:spPr>
          </c:marker>
          <c:cat>
            <c:multiLvlStrRef>
              <c:f>Sheet1!$A$2:$A$25</c:f>
              <c:multiLvlStrCache>
                <c:ptCount val="24"/>
                <c:lvl>
                  <c:pt idx="0">
                    <c:v>2018 Q1</c:v>
                  </c:pt>
                  <c:pt idx="1">
                    <c:v>2018 Q2</c:v>
                  </c:pt>
                  <c:pt idx="2">
                    <c:v>2018 Q3</c:v>
                  </c:pt>
                  <c:pt idx="3">
                    <c:v>2018 Q4</c:v>
                  </c:pt>
                  <c:pt idx="4">
                    <c:v>2019 Q1</c:v>
                  </c:pt>
                  <c:pt idx="5">
                    <c:v>2019 Q2</c:v>
                  </c:pt>
                  <c:pt idx="6">
                    <c:v>2019 Q3</c:v>
                  </c:pt>
                  <c:pt idx="7">
                    <c:v>2019 Q4</c:v>
                  </c:pt>
                  <c:pt idx="8">
                    <c:v>2020 Q1</c:v>
                  </c:pt>
                  <c:pt idx="9">
                    <c:v>2020 Q2</c:v>
                  </c:pt>
                  <c:pt idx="10">
                    <c:v>2020 Q3</c:v>
                  </c:pt>
                  <c:pt idx="11">
                    <c:v>2020 Q4</c:v>
                  </c:pt>
                  <c:pt idx="12">
                    <c:v>2021 Q1</c:v>
                  </c:pt>
                  <c:pt idx="13">
                    <c:v>2021 Q2</c:v>
                  </c:pt>
                  <c:pt idx="14">
                    <c:v>2021 Q3</c:v>
                  </c:pt>
                  <c:pt idx="15">
                    <c:v>2021 Q4</c:v>
                  </c:pt>
                  <c:pt idx="16">
                    <c:v>2022 Q1</c:v>
                  </c:pt>
                  <c:pt idx="17">
                    <c:v>2022 Q2</c:v>
                  </c:pt>
                  <c:pt idx="18">
                    <c:v>2022 Q3</c:v>
                  </c:pt>
                  <c:pt idx="19">
                    <c:v>2022 Q4</c:v>
                  </c:pt>
                  <c:pt idx="20">
                    <c:v>2023 Q1</c:v>
                  </c:pt>
                  <c:pt idx="21">
                    <c:v>2023 Q2</c:v>
                  </c:pt>
                  <c:pt idx="22">
                    <c:v>2023 Q3</c:v>
                  </c:pt>
                  <c:pt idx="23">
                    <c:v>2023 Q4</c:v>
                  </c:pt>
                </c:lvl>
              </c:multiLvlStrCache>
            </c:multiLvlStrRef>
          </c:cat>
          <c:val>
            <c:numRef>
              <c:f>Sheet1!$B$2:$B$25</c:f>
              <c:numCache>
                <c:formatCode>General</c:formatCode>
                <c:ptCount val="24"/>
                <c:pt idx="0">
                  <c:v>0.1985940246045694</c:v>
                </c:pt>
                <c:pt idx="1">
                  <c:v>0.1648177496038035</c:v>
                </c:pt>
                <c:pt idx="2">
                  <c:v>0.1540832049306625</c:v>
                </c:pt>
                <c:pt idx="3">
                  <c:v>0.1504702194357366</c:v>
                </c:pt>
                <c:pt idx="4">
                  <c:v>0.146417445482866</c:v>
                </c:pt>
                <c:pt idx="5">
                  <c:v>0.1605960264900662</c:v>
                </c:pt>
                <c:pt idx="6">
                  <c:v>0.1650326797385621</c:v>
                </c:pt>
                <c:pt idx="7">
                  <c:v>0.15625</c:v>
                </c:pt>
                <c:pt idx="8">
                  <c:v>0.1428571428571428</c:v>
                </c:pt>
                <c:pt idx="9">
                  <c:v>0.1450777202072538</c:v>
                </c:pt>
                <c:pt idx="10">
                  <c:v>0.1359060402684563</c:v>
                </c:pt>
                <c:pt idx="11">
                  <c:v>0.1699346405228758</c:v>
                </c:pt>
                <c:pt idx="12">
                  <c:v>0.1880733944954128</c:v>
                </c:pt>
                <c:pt idx="13">
                  <c:v>0.1596774193548387</c:v>
                </c:pt>
                <c:pt idx="14">
                  <c:v>0.1877133105802047</c:v>
                </c:pt>
                <c:pt idx="15">
                  <c:v>0.1720613287904599</c:v>
                </c:pt>
                <c:pt idx="16">
                  <c:v>0.1589403973509933</c:v>
                </c:pt>
                <c:pt idx="17">
                  <c:v>0.1923076923076923</c:v>
                </c:pt>
                <c:pt idx="18">
                  <c:v>0.1648177496038035</c:v>
                </c:pt>
                <c:pt idx="19">
                  <c:v>0.1488673139158576</c:v>
                </c:pt>
                <c:pt idx="20">
                  <c:v>0.1417797888386123</c:v>
                </c:pt>
                <c:pt idx="21">
                  <c:v>0.1622950819672131</c:v>
                </c:pt>
                <c:pt idx="22">
                  <c:v>0.1477272727272727</c:v>
                </c:pt>
                <c:pt idx="23">
                  <c:v>0.153184165232358</c:v>
                </c:pt>
              </c:numCache>
            </c:numRef>
          </c:val>
          <c:smooth val="0"/>
        </c:ser>
        <c:dLbls>
          <c:numFmt formatCode="#,##0" sourceLinked="0"/>
          <c:txPr>
            <a:bodyPr/>
            <a:lstStyle/>
            <a:p>
              <a:pPr>
                <a:defRPr b="0" i="0" strike="noStrike" sz="1200" u="none">
                  <a:solidFill>
                    <a:srgbClr val="1B2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Upper control limit</c:v>
                </c:pt>
              </c:strCache>
            </c:strRef>
          </c:tx>
          <c:spPr>
            <a:solidFill>
              <a:srgbClr val="6F7C8F"/>
            </a:solidFill>
            <a:ln w="15875" cap="flat">
              <a:solidFill>
                <a:srgbClr val="6F7C8F"/>
              </a:solidFill>
              <a:prstDash val="dash"/>
              <a:round/>
            </a:ln>
            <a:effectLst/>
          </c:spPr>
          <c:invertIfNegative val="0"/>
          <c:dLbls>
            <c:numFmt formatCode="#,##0" sourceLinked="0"/>
            <c:txPr>
              <a:bodyPr/>
              <a:lstStyle/>
              <a:p>
                <a:pPr>
                  <a:defRPr b="0" i="0" strike="noStrike" sz="1200" u="none">
                    <a:solidFill>
                      <a:srgbClr val="1B2333"/>
                    </a:solidFill>
                    <a:latin typeface="+mn-lt"/>
                  </a:defRPr>
                </a:pPr>
              </a:p>
            </c:txPr>
            <c:showLegendKey val="0"/>
            <c:showVal val="0"/>
            <c:showCatName val="0"/>
            <c:showSerName val="0"/>
            <c:showPercent val="0"/>
            <c:showBubbleSize val="0"/>
            <c:showLeaderLines val="0"/>
          </c:dLbls>
          <c:marker>
            <c:symbol val="none"/>
            <c:size val="6"/>
            <c:spPr>
              <a:solidFill>
                <a:srgbClr val="6F7C8F"/>
              </a:solidFill>
              <a:ln w="9525" cap="flat">
                <a:solidFill>
                  <a:srgbClr val="6F7C8F"/>
                </a:solidFill>
                <a:prstDash val="solid"/>
                <a:round/>
              </a:ln>
              <a:effectLst/>
            </c:spPr>
          </c:marker>
          <c:cat>
            <c:multiLvlStrRef>
              <c:f>Sheet1!$A$2:$A$25</c:f>
              <c:multiLvlStrCache>
                <c:ptCount val="24"/>
                <c:lvl>
                  <c:pt idx="0">
                    <c:v>2018 Q1</c:v>
                  </c:pt>
                  <c:pt idx="1">
                    <c:v>2018 Q2</c:v>
                  </c:pt>
                  <c:pt idx="2">
                    <c:v>2018 Q3</c:v>
                  </c:pt>
                  <c:pt idx="3">
                    <c:v>2018 Q4</c:v>
                  </c:pt>
                  <c:pt idx="4">
                    <c:v>2019 Q1</c:v>
                  </c:pt>
                  <c:pt idx="5">
                    <c:v>2019 Q2</c:v>
                  </c:pt>
                  <c:pt idx="6">
                    <c:v>2019 Q3</c:v>
                  </c:pt>
                  <c:pt idx="7">
                    <c:v>2019 Q4</c:v>
                  </c:pt>
                  <c:pt idx="8">
                    <c:v>2020 Q1</c:v>
                  </c:pt>
                  <c:pt idx="9">
                    <c:v>2020 Q2</c:v>
                  </c:pt>
                  <c:pt idx="10">
                    <c:v>2020 Q3</c:v>
                  </c:pt>
                  <c:pt idx="11">
                    <c:v>2020 Q4</c:v>
                  </c:pt>
                  <c:pt idx="12">
                    <c:v>2021 Q1</c:v>
                  </c:pt>
                  <c:pt idx="13">
                    <c:v>2021 Q2</c:v>
                  </c:pt>
                  <c:pt idx="14">
                    <c:v>2021 Q3</c:v>
                  </c:pt>
                  <c:pt idx="15">
                    <c:v>2021 Q4</c:v>
                  </c:pt>
                  <c:pt idx="16">
                    <c:v>2022 Q1</c:v>
                  </c:pt>
                  <c:pt idx="17">
                    <c:v>2022 Q2</c:v>
                  </c:pt>
                  <c:pt idx="18">
                    <c:v>2022 Q3</c:v>
                  </c:pt>
                  <c:pt idx="19">
                    <c:v>2022 Q4</c:v>
                  </c:pt>
                  <c:pt idx="20">
                    <c:v>2023 Q1</c:v>
                  </c:pt>
                  <c:pt idx="21">
                    <c:v>2023 Q2</c:v>
                  </c:pt>
                  <c:pt idx="22">
                    <c:v>2023 Q3</c:v>
                  </c:pt>
                  <c:pt idx="23">
                    <c:v>2023 Q4</c:v>
                  </c:pt>
                </c:lvl>
              </c:multiLvlStrCache>
            </c:multiLvlStrRef>
          </c:cat>
          <c:val>
            <c:numRef>
              <c:f>Sheet1!$C$2:$C$25</c:f>
              <c:numCache>
                <c:formatCode>General</c:formatCode>
                <c:ptCount val="24"/>
                <c:pt idx="0">
                  <c:v>0.1917944894383082</c:v>
                </c:pt>
                <c:pt idx="1">
                  <c:v>0.1902415194016922</c:v>
                </c:pt>
                <c:pt idx="2">
                  <c:v>0.1898328905846957</c:v>
                </c:pt>
                <c:pt idx="3">
                  <c:v>0.1900805543387656</c:v>
                </c:pt>
                <c:pt idx="4">
                  <c:v>0.1899897586045009</c:v>
                </c:pt>
                <c:pt idx="5">
                  <c:v>0.190888380226205</c:v>
                </c:pt>
                <c:pt idx="6">
                  <c:v>0.1906922614697973</c:v>
                </c:pt>
                <c:pt idx="7">
                  <c:v>0.1916066798707728</c:v>
                </c:pt>
                <c:pt idx="8">
                  <c:v>0.1907653530169686</c:v>
                </c:pt>
                <c:pt idx="9">
                  <c:v>0.1915272346333736</c:v>
                </c:pt>
                <c:pt idx="10">
                  <c:v>0.1910884345486967</c:v>
                </c:pt>
                <c:pt idx="11">
                  <c:v>0.1906922614697973</c:v>
                </c:pt>
                <c:pt idx="12">
                  <c:v>0.1897223873133348</c:v>
                </c:pt>
                <c:pt idx="13">
                  <c:v>0.1904999509117113</c:v>
                </c:pt>
                <c:pt idx="14">
                  <c:v>0.191344240692811</c:v>
                </c:pt>
                <c:pt idx="15">
                  <c:v>0.1913183662541522</c:v>
                </c:pt>
                <c:pt idx="16">
                  <c:v>0.190888380226205</c:v>
                </c:pt>
                <c:pt idx="17">
                  <c:v>0.1910380448194772</c:v>
                </c:pt>
                <c:pt idx="18">
                  <c:v>0.1902415194016922</c:v>
                </c:pt>
                <c:pt idx="19">
                  <c:v>0.1905476782807436</c:v>
                </c:pt>
                <c:pt idx="20">
                  <c:v>0.189526640689305</c:v>
                </c:pt>
                <c:pt idx="21">
                  <c:v>0.1907409292649516</c:v>
                </c:pt>
                <c:pt idx="22">
                  <c:v>0.1905956379000008</c:v>
                </c:pt>
                <c:pt idx="23">
                  <c:v>0.1914746133329882</c:v>
                </c:pt>
              </c:numCache>
            </c:numRef>
          </c:val>
          <c:smooth val="0"/>
        </c:ser>
        <c:ser>
          <c:idx val="2"/>
          <c:order val="2"/>
          <c:tx>
            <c:strRef>
              <c:f>Sheet1!$D$1</c:f>
              <c:strCache>
                <c:ptCount val="1"/>
                <c:pt idx="0">
                  <c:v>Lower control limit</c:v>
                </c:pt>
              </c:strCache>
            </c:strRef>
          </c:tx>
          <c:spPr>
            <a:solidFill>
              <a:srgbClr val="6F7C8F"/>
            </a:solidFill>
            <a:ln w="15875" cap="flat">
              <a:solidFill>
                <a:srgbClr val="6F7C8F"/>
              </a:solidFill>
              <a:prstDash val="dash"/>
              <a:round/>
            </a:ln>
            <a:effectLst/>
          </c:spPr>
          <c:invertIfNegative val="0"/>
          <c:dLbls>
            <c:numFmt formatCode="#,##0" sourceLinked="0"/>
            <c:txPr>
              <a:bodyPr/>
              <a:lstStyle/>
              <a:p>
                <a:pPr>
                  <a:defRPr b="0" i="0" strike="noStrike" sz="1200" u="none">
                    <a:solidFill>
                      <a:srgbClr val="1B2333"/>
                    </a:solidFill>
                    <a:latin typeface="+mn-lt"/>
                  </a:defRPr>
                </a:pPr>
              </a:p>
            </c:txPr>
            <c:showLegendKey val="0"/>
            <c:showVal val="0"/>
            <c:showCatName val="0"/>
            <c:showSerName val="0"/>
            <c:showPercent val="0"/>
            <c:showBubbleSize val="0"/>
            <c:showLeaderLines val="0"/>
          </c:dLbls>
          <c:marker>
            <c:symbol val="none"/>
            <c:size val="6"/>
            <c:spPr>
              <a:solidFill>
                <a:srgbClr val="6F7C8F"/>
              </a:solidFill>
              <a:ln w="9525" cap="flat">
                <a:solidFill>
                  <a:srgbClr val="6F7C8F"/>
                </a:solidFill>
                <a:prstDash val="solid"/>
                <a:round/>
              </a:ln>
              <a:effectLst/>
            </c:spPr>
          </c:marker>
          <c:cat>
            <c:multiLvlStrRef>
              <c:f>Sheet1!$A$2:$A$25</c:f>
              <c:multiLvlStrCache>
                <c:ptCount val="24"/>
                <c:lvl>
                  <c:pt idx="0">
                    <c:v>2018 Q1</c:v>
                  </c:pt>
                  <c:pt idx="1">
                    <c:v>2018 Q2</c:v>
                  </c:pt>
                  <c:pt idx="2">
                    <c:v>2018 Q3</c:v>
                  </c:pt>
                  <c:pt idx="3">
                    <c:v>2018 Q4</c:v>
                  </c:pt>
                  <c:pt idx="4">
                    <c:v>2019 Q1</c:v>
                  </c:pt>
                  <c:pt idx="5">
                    <c:v>2019 Q2</c:v>
                  </c:pt>
                  <c:pt idx="6">
                    <c:v>2019 Q3</c:v>
                  </c:pt>
                  <c:pt idx="7">
                    <c:v>2019 Q4</c:v>
                  </c:pt>
                  <c:pt idx="8">
                    <c:v>2020 Q1</c:v>
                  </c:pt>
                  <c:pt idx="9">
                    <c:v>2020 Q2</c:v>
                  </c:pt>
                  <c:pt idx="10">
                    <c:v>2020 Q3</c:v>
                  </c:pt>
                  <c:pt idx="11">
                    <c:v>2020 Q4</c:v>
                  </c:pt>
                  <c:pt idx="12">
                    <c:v>2021 Q1</c:v>
                  </c:pt>
                  <c:pt idx="13">
                    <c:v>2021 Q2</c:v>
                  </c:pt>
                  <c:pt idx="14">
                    <c:v>2021 Q3</c:v>
                  </c:pt>
                  <c:pt idx="15">
                    <c:v>2021 Q4</c:v>
                  </c:pt>
                  <c:pt idx="16">
                    <c:v>2022 Q1</c:v>
                  </c:pt>
                  <c:pt idx="17">
                    <c:v>2022 Q2</c:v>
                  </c:pt>
                  <c:pt idx="18">
                    <c:v>2022 Q3</c:v>
                  </c:pt>
                  <c:pt idx="19">
                    <c:v>2022 Q4</c:v>
                  </c:pt>
                  <c:pt idx="20">
                    <c:v>2023 Q1</c:v>
                  </c:pt>
                  <c:pt idx="21">
                    <c:v>2023 Q2</c:v>
                  </c:pt>
                  <c:pt idx="22">
                    <c:v>2023 Q3</c:v>
                  </c:pt>
                  <c:pt idx="23">
                    <c:v>2023 Q4</c:v>
                  </c:pt>
                </c:lvl>
              </c:multiLvlStrCache>
            </c:multiLvlStrRef>
          </c:cat>
          <c:val>
            <c:numRef>
              <c:f>Sheet1!$D$2:$D$25</c:f>
              <c:numCache>
                <c:formatCode>General</c:formatCode>
                <c:ptCount val="24"/>
                <c:pt idx="0">
                  <c:v>0.130166695444225</c:v>
                </c:pt>
                <c:pt idx="1">
                  <c:v>0.131719665480841</c:v>
                </c:pt>
                <c:pt idx="2">
                  <c:v>0.1321282942978375</c:v>
                </c:pt>
                <c:pt idx="3">
                  <c:v>0.1318806305437675</c:v>
                </c:pt>
                <c:pt idx="4">
                  <c:v>0.1319714262780322</c:v>
                </c:pt>
                <c:pt idx="5">
                  <c:v>0.1310728046563282</c:v>
                </c:pt>
                <c:pt idx="6">
                  <c:v>0.1312689234127359</c:v>
                </c:pt>
                <c:pt idx="7">
                  <c:v>0.1303545050117603</c:v>
                </c:pt>
                <c:pt idx="8">
                  <c:v>0.1311958318655646</c:v>
                </c:pt>
                <c:pt idx="9">
                  <c:v>0.1304339502491596</c:v>
                </c:pt>
                <c:pt idx="10">
                  <c:v>0.1308727503338365</c:v>
                </c:pt>
                <c:pt idx="11">
                  <c:v>0.1312689234127359</c:v>
                </c:pt>
                <c:pt idx="12">
                  <c:v>0.1322387975691984</c:v>
                </c:pt>
                <c:pt idx="13">
                  <c:v>0.1314612339708219</c:v>
                </c:pt>
                <c:pt idx="14">
                  <c:v>0.1306169441897221</c:v>
                </c:pt>
                <c:pt idx="15">
                  <c:v>0.1306428186283809</c:v>
                </c:pt>
                <c:pt idx="16">
                  <c:v>0.1310728046563282</c:v>
                </c:pt>
                <c:pt idx="17">
                  <c:v>0.130923140063056</c:v>
                </c:pt>
                <c:pt idx="18">
                  <c:v>0.131719665480841</c:v>
                </c:pt>
                <c:pt idx="19">
                  <c:v>0.1314135066017896</c:v>
                </c:pt>
                <c:pt idx="20">
                  <c:v>0.1324345441932281</c:v>
                </c:pt>
                <c:pt idx="21">
                  <c:v>0.1312202556175815</c:v>
                </c:pt>
                <c:pt idx="22">
                  <c:v>0.1313655469825324</c:v>
                </c:pt>
                <c:pt idx="23">
                  <c:v>0.130486571549545</c:v>
                </c:pt>
              </c:numCache>
            </c:numRef>
          </c:val>
          <c:smooth val="0"/>
        </c:ser>
        <c:dLbls>
          <c:numFmt formatCode="#,##0" sourceLinked="0"/>
          <c:txPr>
            <a:bodyPr/>
            <a:lstStyle/>
            <a:p>
              <a:pPr>
                <a:defRPr b="0" i="0" strike="noStrike" sz="1200" u="none">
                  <a:solidFill>
                    <a:srgbClr val="1B23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333"/>
                </a:solidFill>
                <a:latin typeface="+mn-lt"/>
              </a:defRPr>
            </a:pPr>
            <a:endParaRPr lang="en-US"/>
          </a:p>
        </c:txPr>
        <c:crossAx val="2094734552"/>
        <c:crosses val="autoZero"/>
        <c:auto val="1"/>
        <c:lblAlgn val="ctr"/>
        <c:noMultiLvlLbl val="1"/>
        <c:tickLblSkip val="4"/>
      </c:catAx>
      <c:valAx>
        <c:axId val="2094734552"/>
        <c:scaling>
          <c:orientation val="minMax"/>
          <c:max val="0.22"/>
          <c:min val="0.1"/>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F7C8F"/>
                </a:solidFill>
                <a:latin typeface="+mn-lt"/>
              </a:defRPr>
            </a:pPr>
            <a:endParaRPr lang="en-US"/>
          </a:p>
        </c:txPr>
        <c:crossAx val="2094734554"/>
        <c:crosses val="autoZero"/>
        <c:crossBetween val="between"/>
        <c:majorUnit val="0.02"/>
      </c:valAx>
      <c:spPr>
        <a:noFill/>
        <a:ln>
          <a:noFill/>
        </a:ln>
        <a:effectLst/>
      </c:spPr>
    </c:plotArea>
    <c:legend>
      <c:legendPos val="b"/>
      <c:overlay val="0"/>
      <c:txPr>
        <a:bodyPr/>
        <a:lstStyle/>
        <a:p>
          <a:pPr>
            <a:defRPr sz="1200">
              <a:solidFill>
                <a:srgbClr val="1B23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AUC</c:v>
                </c:pt>
              </c:strCache>
            </c:strRef>
          </c:tx>
          <c:spPr>
            <a:solidFill>
              <a:srgbClr val="6F7C8F"/>
            </a:solidFill>
            <a:effectLst/>
          </c:spPr>
          <c:invertIfNegative val="0"/>
          <c:dLbls>
            <c:numFmt formatCode="0.0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6F7C8F"/>
              </a:solidFill>
              <a:effectLst/>
            </c:spPr>
          </c:dPt>
          <c:dPt>
            <c:idx val="1"/>
            <c:invertIfNegative val="0"/>
            <c:bubble3D val="0"/>
            <c:spPr>
              <a:solidFill>
                <a:srgbClr val="6F7C8F"/>
              </a:solidFill>
              <a:effectLst/>
            </c:spPr>
          </c:dPt>
          <c:dPt>
            <c:idx val="2"/>
            <c:invertIfNegative val="0"/>
            <c:bubble3D val="0"/>
            <c:spPr>
              <a:solidFill>
                <a:srgbClr val="007C99"/>
              </a:solidFill>
              <a:effectLst/>
            </c:spPr>
          </c:dPt>
          <c:dPt>
            <c:idx val="3"/>
            <c:invertIfNegative val="0"/>
            <c:bubble3D val="0"/>
            <c:spPr>
              <a:solidFill>
                <a:srgbClr val="6F7C8F"/>
              </a:solidFill>
              <a:effectLst/>
            </c:spPr>
          </c:dPt>
          <c:cat>
            <c:multiLvlStrRef>
              <c:f>Sheet1!$A$2:$A$5</c:f>
              <c:multiLvlStrCache>
                <c:ptCount val="4"/>
                <c:lvl>
                  <c:pt idx="0">
                    <c:v>XGBoost, application data</c:v>
                  </c:pt>
                  <c:pt idx="1">
                    <c:v>Logistic, application data</c:v>
                  </c:pt>
                  <c:pt idx="2">
                    <c:v>Logistic, + bureau &amp; repayment</c:v>
                  </c:pt>
                  <c:pt idx="3">
                    <c:v>XGBoost, + bureau &amp; repayment</c:v>
                  </c:pt>
                </c:lvl>
              </c:multiLvlStrCache>
            </c:multiLvlStrRef>
          </c:cat>
          <c:val>
            <c:numRef>
              <c:f>Sheet1!$B$2:$B$5</c:f>
              <c:numCache>
                <c:formatCode>General</c:formatCode>
                <c:ptCount val="4"/>
                <c:pt idx="0">
                  <c:v>0.6492750515676126</c:v>
                </c:pt>
                <c:pt idx="1">
                  <c:v>0.6496567162258939</c:v>
                </c:pt>
                <c:pt idx="2">
                  <c:v>0.6769718983313965</c:v>
                </c:pt>
                <c:pt idx="3">
                  <c:v>0.6804227472136335</c:v>
                </c:pt>
              </c:numCache>
            </c:numRef>
          </c:val>
        </c:ser>
        <c:dLbls>
          <c:numFmt formatCode="0.0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72"/>
          <c:min val="0.5"/>
        </c:scaling>
        <c:delete val="0"/>
        <c:axPos val="b"/>
        <c:majorGridlines>
          <c:spPr>
            <a:ln w="9525" cap="flat">
              <a:solidFill>
                <a:srgbClr val="E3E8EE"/>
              </a:solidFill>
              <a:prstDash val="solid"/>
              <a:round/>
            </a:ln>
          </c:spPr>
        </c:majorGridlines>
        <c:numFmt formatCode="0.00" sourceLinked="0"/>
        <c:majorTickMark val="out"/>
        <c:minorTickMark val="none"/>
        <c:tickLblPos val="low"/>
        <c:spPr>
          <a:ln w="12700" cap="flat">
            <a:noFill/>
            <a:prstDash val="solid"/>
            <a:round/>
          </a:ln>
        </c:spPr>
        <c:txPr>
          <a:bodyPr/>
          <a:lstStyle/>
          <a:p>
            <a:pPr>
              <a:defRPr sz="1100" b="0" i="0" u="none" strike="noStrike">
                <a:solidFill>
                  <a:srgbClr val="6F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Average contribution (log-odds)</c:v>
                </c:pt>
              </c:strCache>
            </c:strRef>
          </c:tx>
          <c:spPr>
            <a:solidFill>
              <a:srgbClr val="007C99"/>
            </a:solidFill>
            <a:effectLst/>
          </c:spPr>
          <c:invertIfNegative val="0"/>
          <c:dLbls>
            <c:numFmt formatCode="0.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007C99"/>
              </a:solidFill>
              <a:effectLst/>
            </c:spPr>
          </c:dPt>
          <c:dPt>
            <c:idx val="1"/>
            <c:invertIfNegative val="0"/>
            <c:bubble3D val="0"/>
            <c:spPr>
              <a:solidFill>
                <a:srgbClr val="007C99"/>
              </a:solidFill>
              <a:effectLst/>
            </c:spPr>
          </c:dPt>
          <c:dPt>
            <c:idx val="2"/>
            <c:invertIfNegative val="0"/>
            <c:bubble3D val="0"/>
            <c:spPr>
              <a:solidFill>
                <a:srgbClr val="007C99"/>
              </a:solidFill>
              <a:effectLst/>
            </c:spPr>
          </c:dPt>
          <c:dPt>
            <c:idx val="3"/>
            <c:invertIfNegative val="0"/>
            <c:bubble3D val="0"/>
            <c:spPr>
              <a:solidFill>
                <a:srgbClr val="007C99"/>
              </a:solidFill>
              <a:effectLst/>
            </c:spPr>
          </c:dPt>
          <c:dPt>
            <c:idx val="4"/>
            <c:invertIfNegative val="0"/>
            <c:bubble3D val="0"/>
            <c:spPr>
              <a:solidFill>
                <a:srgbClr val="007C99"/>
              </a:solidFill>
              <a:effectLst/>
            </c:spPr>
          </c:dPt>
          <c:dPt>
            <c:idx val="5"/>
            <c:invertIfNegative val="0"/>
            <c:bubble3D val="0"/>
            <c:spPr>
              <a:solidFill>
                <a:srgbClr val="007C99"/>
              </a:solidFill>
              <a:effectLst/>
            </c:spPr>
          </c:dPt>
          <c:dPt>
            <c:idx val="6"/>
            <c:invertIfNegative val="0"/>
            <c:bubble3D val="0"/>
            <c:spPr>
              <a:solidFill>
                <a:srgbClr val="007C99"/>
              </a:solidFill>
              <a:effectLst/>
            </c:spPr>
          </c:dPt>
          <c:dPt>
            <c:idx val="7"/>
            <c:invertIfNegative val="0"/>
            <c:bubble3D val="0"/>
            <c:spPr>
              <a:solidFill>
                <a:srgbClr val="007C99"/>
              </a:solidFill>
              <a:effectLst/>
            </c:spPr>
          </c:dPt>
          <c:cat>
            <c:multiLvlStrRef>
              <c:f>Sheet1!$A$2:$A$9</c:f>
              <c:multiLvlStrCache>
                <c:ptCount val="8"/>
                <c:lvl>
                  <c:pt idx="0">
                    <c:v>Annual income</c:v>
                  </c:pt>
                  <c:pt idx="1">
                    <c:v>Years employed</c:v>
                  </c:pt>
                  <c:pt idx="2">
                    <c:v>Loan amount</c:v>
                  </c:pt>
                  <c:pt idx="3">
                    <c:v>Average bureau days overdue</c:v>
                  </c:pt>
                  <c:pt idx="4">
                    <c:v>Age</c:v>
                  </c:pt>
                  <c:pt idx="5">
                    <c:v>Active outside credit lines</c:v>
                  </c:pt>
                  <c:pt idx="6">
                    <c:v>Share paid on time</c:v>
                  </c:pt>
                  <c:pt idx="7">
                    <c:v>Late payments</c:v>
                  </c:pt>
                </c:lvl>
              </c:multiLvlStrCache>
            </c:multiLvlStrRef>
          </c:cat>
          <c:val>
            <c:numRef>
              <c:f>Sheet1!$B$2:$B$9</c:f>
              <c:numCache>
                <c:formatCode>General</c:formatCode>
                <c:ptCount val="8"/>
                <c:pt idx="0">
                  <c:v>0.20682538710459</c:v>
                </c:pt>
                <c:pt idx="1">
                  <c:v>0.1448200822377471</c:v>
                </c:pt>
                <c:pt idx="2">
                  <c:v>0.1420634862368811</c:v>
                </c:pt>
                <c:pt idx="3">
                  <c:v>0.1276425128711978</c:v>
                </c:pt>
                <c:pt idx="4">
                  <c:v>0.1136602168984268</c:v>
                </c:pt>
                <c:pt idx="5">
                  <c:v>0.0994056508355687</c:v>
                </c:pt>
                <c:pt idx="6">
                  <c:v>0.0865038396748573</c:v>
                </c:pt>
                <c:pt idx="7">
                  <c:v>0.0760007192977412</c:v>
                </c:pt>
              </c:numCache>
            </c:numRef>
          </c:val>
        </c:ser>
        <c:dLbls>
          <c:numFmt formatCode="0.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0%" sourceLinked="0"/>
        <c:majorTickMark val="out"/>
        <c:minorTickMark val="none"/>
        <c:tickLblPos val="low"/>
        <c:spPr>
          <a:ln w="12700" cap="flat">
            <a:noFill/>
            <a:prstDash val="solid"/>
            <a:round/>
          </a:ln>
        </c:spPr>
        <c:txPr>
          <a:bodyPr/>
          <a:lstStyle/>
          <a:p>
            <a:pPr>
              <a:defRPr sz="1100" b="0" i="0" u="none" strike="noStrike">
                <a:solidFill>
                  <a:srgbClr val="6F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Contribution (log-odds)</c:v>
                </c:pt>
              </c:strCache>
            </c:strRef>
          </c:tx>
          <c:spPr>
            <a:solidFill>
              <a:srgbClr val="C2412D"/>
            </a:solidFill>
            <a:effectLst/>
          </c:spPr>
          <c:invertIfNegative val="0"/>
          <c:dLbls>
            <c:numFmt formatCode="+0.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C2412D"/>
              </a:solidFill>
              <a:effectLst/>
            </c:spPr>
          </c:dPt>
          <c:dPt>
            <c:idx val="1"/>
            <c:invertIfNegative val="0"/>
            <c:bubble3D val="0"/>
            <c:spPr>
              <a:solidFill>
                <a:srgbClr val="C2412D"/>
              </a:solidFill>
              <a:effectLst/>
            </c:spPr>
          </c:dPt>
          <c:dPt>
            <c:idx val="2"/>
            <c:invertIfNegative val="0"/>
            <c:bubble3D val="0"/>
            <c:spPr>
              <a:solidFill>
                <a:srgbClr val="C2412D"/>
              </a:solidFill>
              <a:effectLst/>
            </c:spPr>
          </c:dPt>
          <c:cat>
            <c:multiLvlStrRef>
              <c:f>Sheet1!$A$2:$A$4</c:f>
              <c:multiLvlStrCache>
                <c:ptCount val="3"/>
                <c:lvl>
                  <c:pt idx="0">
                    <c:v>Loan / income</c:v>
                  </c:pt>
                  <c:pt idx="1">
                    <c:v>Loan amount</c:v>
                  </c:pt>
                  <c:pt idx="2">
                    <c:v>Annual income</c:v>
                  </c:pt>
                </c:lvl>
              </c:multiLvlStrCache>
            </c:multiLvlStrRef>
          </c:cat>
          <c:val>
            <c:numRef>
              <c:f>Sheet1!$B$2:$B$4</c:f>
              <c:numCache>
                <c:formatCode>General</c:formatCode>
                <c:ptCount val="3"/>
                <c:pt idx="0">
                  <c:v>1.712092625483411</c:v>
                </c:pt>
                <c:pt idx="1">
                  <c:v>0.8227231356425481</c:v>
                </c:pt>
                <c:pt idx="2">
                  <c:v>0.6832309907276192</c:v>
                </c:pt>
              </c:numCache>
            </c:numRef>
          </c:val>
        </c:ser>
        <c:dLbls>
          <c:numFmt formatCode="+0.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0%" sourceLinked="0"/>
        <c:majorTickMark val="out"/>
        <c:minorTickMark val="none"/>
        <c:tickLblPos val="low"/>
        <c:spPr>
          <a:ln w="12700" cap="flat">
            <a:noFill/>
            <a:prstDash val="solid"/>
            <a:round/>
          </a:ln>
        </c:spPr>
        <c:txPr>
          <a:bodyPr/>
          <a:lstStyle/>
          <a:p>
            <a:pPr>
              <a:defRPr sz="1100" b="0" i="0" u="none" strike="noStrike">
                <a:solidFill>
                  <a:srgbClr val="6F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Default rate</c:v>
                </c:pt>
              </c:strCache>
            </c:strRef>
          </c:tx>
          <c:spPr>
            <a:solidFill>
              <a:srgbClr val="C2412D"/>
            </a:solidFill>
            <a:effectLst/>
          </c:spPr>
          <c:invertIfNegative val="0"/>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C2412D"/>
              </a:solidFill>
              <a:effectLst/>
            </c:spPr>
          </c:dPt>
          <c:dPt>
            <c:idx val="1"/>
            <c:invertIfNegative val="0"/>
            <c:bubble3D val="0"/>
            <c:spPr>
              <a:solidFill>
                <a:srgbClr val="6F7C8F"/>
              </a:solidFill>
              <a:effectLst/>
            </c:spPr>
          </c:dPt>
          <c:dPt>
            <c:idx val="2"/>
            <c:invertIfNegative val="0"/>
            <c:bubble3D val="0"/>
            <c:spPr>
              <a:solidFill>
                <a:srgbClr val="6F7C8F"/>
              </a:solidFill>
              <a:effectLst/>
            </c:spPr>
          </c:dPt>
          <c:dPt>
            <c:idx val="3"/>
            <c:invertIfNegative val="0"/>
            <c:bubble3D val="0"/>
            <c:spPr>
              <a:solidFill>
                <a:srgbClr val="6F7C8F"/>
              </a:solidFill>
              <a:effectLst/>
            </c:spPr>
          </c:dPt>
          <c:dPt>
            <c:idx val="4"/>
            <c:invertIfNegative val="0"/>
            <c:bubble3D val="0"/>
            <c:spPr>
              <a:solidFill>
                <a:srgbClr val="6F7C8F"/>
              </a:solidFill>
              <a:effectLst/>
            </c:spPr>
          </c:dPt>
          <c:cat>
            <c:multiLvlStrRef>
              <c:f>Sheet1!$A$2:$A$6</c:f>
              <c:multiLvlStrCache>
                <c:ptCount val="5"/>
                <c:lvl>
                  <c:pt idx="0">
                    <c:v>Under 30</c:v>
                  </c:pt>
                  <c:pt idx="1">
                    <c:v>30-39</c:v>
                  </c:pt>
                  <c:pt idx="2">
                    <c:v>40-49</c:v>
                  </c:pt>
                  <c:pt idx="3">
                    <c:v>50-59</c:v>
                  </c:pt>
                  <c:pt idx="4">
                    <c:v>60+</c:v>
                  </c:pt>
                </c:lvl>
              </c:multiLvlStrCache>
            </c:multiLvlStrRef>
          </c:cat>
          <c:val>
            <c:numRef>
              <c:f>Sheet1!$B$2:$B$6</c:f>
              <c:numCache>
                <c:formatCode>General</c:formatCode>
                <c:ptCount val="5"/>
                <c:pt idx="0">
                  <c:v>0.2156923076923076</c:v>
                </c:pt>
                <c:pt idx="1">
                  <c:v>0.1675741076830006</c:v>
                </c:pt>
                <c:pt idx="2">
                  <c:v>0.1381163823323206</c:v>
                </c:pt>
                <c:pt idx="3">
                  <c:v>0.1180973209404046</c:v>
                </c:pt>
                <c:pt idx="4">
                  <c:v>0.0679347826086956</c:v>
                </c:pt>
              </c:numCache>
            </c:numRef>
          </c:val>
        </c:ser>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42"/>
          <c:min val="0"/>
        </c:scaling>
        <c:delete val="1"/>
        <c:axPos val="b"/>
        <c:numFmt formatCode="0%" sourceLinked="0"/>
        <c:majorTickMark val="out"/>
        <c:minorTickMark val="none"/>
        <c:tickLblPos val="low"/>
        <c:spPr>
          <a:ln w="12700" cap="flat">
            <a:noFill/>
            <a:prstDash val="solid"/>
            <a:round/>
          </a:ln>
        </c:spPr>
        <c:txPr>
          <a:bodyPr/>
          <a:lstStyle/>
          <a:p>
            <a:pPr>
              <a:defRPr sz="1100" b="0" i="0" u="none" strike="noStrike">
                <a:solidFill>
                  <a:srgbClr val="6F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Default rate</c:v>
                </c:pt>
              </c:strCache>
            </c:strRef>
          </c:tx>
          <c:spPr>
            <a:solidFill>
              <a:srgbClr val="C2412D"/>
            </a:solidFill>
            <a:effectLst/>
          </c:spPr>
          <c:invertIfNegative val="0"/>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C2412D"/>
              </a:solidFill>
              <a:effectLst/>
            </c:spPr>
          </c:dPt>
          <c:dPt>
            <c:idx val="1"/>
            <c:invertIfNegative val="0"/>
            <c:bubble3D val="0"/>
            <c:spPr>
              <a:solidFill>
                <a:srgbClr val="6F7C8F"/>
              </a:solidFill>
              <a:effectLst/>
            </c:spPr>
          </c:dPt>
          <c:dPt>
            <c:idx val="2"/>
            <c:invertIfNegative val="0"/>
            <c:bubble3D val="0"/>
            <c:spPr>
              <a:solidFill>
                <a:srgbClr val="6F7C8F"/>
              </a:solidFill>
              <a:effectLst/>
            </c:spPr>
          </c:dPt>
          <c:dPt>
            <c:idx val="3"/>
            <c:invertIfNegative val="0"/>
            <c:bubble3D val="0"/>
            <c:spPr>
              <a:solidFill>
                <a:srgbClr val="6F7C8F"/>
              </a:solidFill>
              <a:effectLst/>
            </c:spPr>
          </c:dPt>
          <c:dPt>
            <c:idx val="4"/>
            <c:invertIfNegative val="0"/>
            <c:bubble3D val="0"/>
            <c:spPr>
              <a:solidFill>
                <a:srgbClr val="6F7C8F"/>
              </a:solidFill>
              <a:effectLst/>
            </c:spPr>
          </c:dPt>
          <c:cat>
            <c:multiLvlStrRef>
              <c:f>Sheet1!$A$2:$A$6</c:f>
              <c:multiLvlStrCache>
                <c:ptCount val="5"/>
                <c:lvl>
                  <c:pt idx="0">
                    <c:v>Unemployed</c:v>
                  </c:pt>
                  <c:pt idx="1">
                    <c:v>Contract</c:v>
                  </c:pt>
                  <c:pt idx="2">
                    <c:v>Self-Employed</c:v>
                  </c:pt>
                  <c:pt idx="3">
                    <c:v>Salaried</c:v>
                  </c:pt>
                  <c:pt idx="4">
                    <c:v>Business Owner</c:v>
                  </c:pt>
                </c:lvl>
              </c:multiLvlStrCache>
            </c:multiLvlStrRef>
          </c:cat>
          <c:val>
            <c:numRef>
              <c:f>Sheet1!$B$2:$B$6</c:f>
              <c:numCache>
                <c:formatCode>General</c:formatCode>
                <c:ptCount val="5"/>
                <c:pt idx="0">
                  <c:v>0.3495821727019498</c:v>
                </c:pt>
                <c:pt idx="1">
                  <c:v>0.1733845169545745</c:v>
                </c:pt>
                <c:pt idx="2">
                  <c:v>0.1532846715328467</c:v>
                </c:pt>
                <c:pt idx="3">
                  <c:v>0.1497482109727007</c:v>
                </c:pt>
                <c:pt idx="4">
                  <c:v>0.1355748373101952</c:v>
                </c:pt>
              </c:numCache>
            </c:numRef>
          </c:val>
        </c:ser>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42"/>
          <c:min val="0"/>
        </c:scaling>
        <c:delete val="1"/>
        <c:axPos val="b"/>
        <c:numFmt formatCode="0%" sourceLinked="0"/>
        <c:majorTickMark val="out"/>
        <c:minorTickMark val="none"/>
        <c:tickLblPos val="low"/>
        <c:spPr>
          <a:ln w="12700" cap="flat">
            <a:noFill/>
            <a:prstDash val="solid"/>
            <a:round/>
          </a:ln>
        </c:spPr>
        <c:txPr>
          <a:bodyPr/>
          <a:lstStyle/>
          <a:p>
            <a:pPr>
              <a:defRPr sz="1100" b="0" i="0" u="none" strike="noStrike">
                <a:solidFill>
                  <a:srgbClr val="6F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Default rate</c:v>
                </c:pt>
              </c:strCache>
            </c:strRef>
          </c:tx>
          <c:spPr>
            <a:solidFill>
              <a:srgbClr val="6F7C8F"/>
            </a:solidFill>
            <a:effectLst/>
          </c:spPr>
          <c:invertIfNegative val="0"/>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6F7C8F"/>
              </a:solidFill>
              <a:effectLst/>
            </c:spPr>
          </c:dPt>
          <c:dPt>
            <c:idx val="1"/>
            <c:invertIfNegative val="0"/>
            <c:bubble3D val="0"/>
            <c:spPr>
              <a:solidFill>
                <a:srgbClr val="6F7C8F"/>
              </a:solidFill>
              <a:effectLst/>
            </c:spPr>
          </c:dPt>
          <c:dPt>
            <c:idx val="2"/>
            <c:invertIfNegative val="0"/>
            <c:bubble3D val="0"/>
            <c:spPr>
              <a:solidFill>
                <a:srgbClr val="6F7C8F"/>
              </a:solidFill>
              <a:effectLst/>
            </c:spPr>
          </c:dPt>
          <c:dPt>
            <c:idx val="3"/>
            <c:invertIfNegative val="0"/>
            <c:bubble3D val="0"/>
            <c:spPr>
              <a:solidFill>
                <a:srgbClr val="6F7C8F"/>
              </a:solidFill>
              <a:effectLst/>
            </c:spPr>
          </c:dPt>
          <c:dPt>
            <c:idx val="4"/>
            <c:invertIfNegative val="0"/>
            <c:bubble3D val="0"/>
            <c:spPr>
              <a:solidFill>
                <a:srgbClr val="6F7C8F"/>
              </a:solidFill>
              <a:effectLst/>
            </c:spPr>
          </c:dPt>
          <c:cat>
            <c:multiLvlStrRef>
              <c:f>Sheet1!$A$2:$A$6</c:f>
              <c:multiLvlStrCache>
                <c:ptCount val="5"/>
                <c:lvl>
                  <c:pt idx="0">
                    <c:v>South</c:v>
                  </c:pt>
                  <c:pt idx="1">
                    <c:v>North</c:v>
                  </c:pt>
                  <c:pt idx="2">
                    <c:v>East</c:v>
                  </c:pt>
                  <c:pt idx="3">
                    <c:v>West</c:v>
                  </c:pt>
                  <c:pt idx="4">
                    <c:v>Central</c:v>
                  </c:pt>
                </c:lvl>
              </c:multiLvlStrCache>
            </c:multiLvlStrRef>
          </c:cat>
          <c:val>
            <c:numRef>
              <c:f>Sheet1!$B$2:$B$6</c:f>
              <c:numCache>
                <c:formatCode>General</c:formatCode>
                <c:ptCount val="5"/>
                <c:pt idx="0">
                  <c:v>0.1686111111111111</c:v>
                </c:pt>
                <c:pt idx="1">
                  <c:v>0.1636479186526851</c:v>
                </c:pt>
                <c:pt idx="2">
                  <c:v>0.1601747360757189</c:v>
                </c:pt>
                <c:pt idx="3">
                  <c:v>0.1581508515815085</c:v>
                </c:pt>
                <c:pt idx="4">
                  <c:v>0.1499567847882454</c:v>
                </c:pt>
              </c:numCache>
            </c:numRef>
          </c:val>
        </c:ser>
        <c:dLbls>
          <c:numFmt formatCode="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42"/>
          <c:min val="0"/>
        </c:scaling>
        <c:delete val="1"/>
        <c:axPos val="b"/>
        <c:numFmt formatCode="0%" sourceLinked="0"/>
        <c:majorTickMark val="out"/>
        <c:minorTickMark val="none"/>
        <c:tickLblPos val="low"/>
        <c:spPr>
          <a:ln w="12700" cap="flat">
            <a:noFill/>
            <a:prstDash val="solid"/>
            <a:round/>
          </a:ln>
        </c:spPr>
        <c:txPr>
          <a:bodyPr/>
          <a:lstStyle/>
          <a:p>
            <a:pPr>
              <a:defRPr sz="1100" b="0" i="0" u="none" strike="noStrike">
                <a:solidFill>
                  <a:srgbClr val="6F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In the next ten minutes I will show where risk sits in this lending portfolio, how we score each loan and explain it, and how an AI assistant answers questions without seeing customer data. Everything is built on the supplied synthetic portfolio: 10,000 customers and 14,685 loans, of which 16.1% are labelled as defaulted. I will close with what we need from IT and three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messages. First, concentration: 52% of the money we lent is in mortgages, and mortgages default most. Second, credit history matters: borrowers with three or more debts written off elsewhere default at more than twice the rate of those with none. Third, our model is useful but modest: a test AUC of 0.68, and the external data is what lifts it. Fourth, the AI assistant never receives customer records. My ask is a supervised pilot, an independent validation and a vendor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fragmentation. Five tables, with no single view, mean that a question like where is our risk becomes a spreadsheet exercise. The workspace is for risk analysts and portfolio managers first, credit officers reviewing a single loan, and you for the monthly review. In scope: all five tables, profiling, a model with reasons, and a dashboard with an assistant. Out of scope, deliberately: real data, pricing and loss estimates, a forward-looking probability of default, and any automatic lending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and the workflow. One command runs four steps in about ninety seconds: clean and join the five tables with pandas, run the analytics, train and compare logistic regression and XGBoost with scikit-learn, then score every loan and run 39 automated checks. Analysts work in a local Streamlit dashboard. The red dashed line is the bank boundary. When someone asks the assistant a question, only the question and field names cross it. Claude sends back a query plan; the numbers are calculated on our side. The workflow ends with a person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concentration. Mortgages are only 9.8% of our loans but 52.3% of the money lent, because each one is large. They also default most, at 24.7% against 16.1% overall. So the product where most money sits is the riskiest one. The first action is to review mortgage affordability and concentration limits. This is a default-frequency view; it does not yet include recoveries or collateral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defaults? Income is the clearest signal: 38.7% below 30 thousand dollars, falling to 7.8% above 120 thousand. On the right, credit history: each debt another lender has written off raises the rate, from 14.6% with none to 31.4% with three or more. Customers with no bureau record at all sit at 17.6%, so no history is itself a risk. Combine weak spots and it compounds: unemployed borrowers under 60 thousand default at 37.8%. Age shows the same pattern; region barely matters. Both are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time the picture is stable. Each point is the share of loans from one origination quarter that ended up defaulting. The dashed lines are control limits: the range random variation explains for a quarter of that size. Rates move between 13.6% and 19.9%, with no significant trend. Two quarters sit just outside the band, 2018 Q1 and 2022 Q2; with 24 quarters about one would by chance, so they merit a look, not alarm. One useful early-warning signal: loans that later default are already behind more often from their first month. Going forward we would track these limits every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logistic regression and XGBoost, each with application data only and with bureau and repayment history added. Adding the history lifts AUC from about 0.65 to about 0.68 for both. We chose the logistic model on validation data before touching the test set: XGBoost scores within a few thousandths, and logistic regression is simpler to explain and govern. Test AUC 0.677, Gini 0.354, KS 0.279. In practice, reviewing the riskiest fifth of loans catches 38% of defaults. We also tested several ways of filling missing values; all scored within 0.001 of each other, so the limit is the data, not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explainable at two levels. On the left, what drives it overall: income, employment tenure, loan size and overdue days at other lenders lead. On the right, the account-level view a credit officer gets in the dashboard. This held-out loan, a mortgage to an unemployed borrower with an income of 12 thousand dollars, scores 93%, in the high band, and it did default. Its three reasons are listed with their weight. These reasons help a person review the case; they are not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AI feature, Ask the Portfolio. It is triggered only when an analyst asks a question or presses a shortcut. A local safety check runs first. Claude, outside the bank, only chooses one of a fixed set of read-only queries; it never sees customer rows or calculates numbers. The app validates the plan, pandas computes the answer on our side, and the answer appears with its filters and a table so it can be checked. A false positive is a valid question refused; a false negative is a question matched to the wrong but valid query, which the visible filters expose. A person always makes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risk and compliance, four controls. Data protection: the assistant receives no customer data, but question text does leave the bank, so we need vendor and data-residency approval before production. Fairness: gender is not a model input, and accuracy is similar for women and men, though that is not yet a full fairness audit. Human review and an audit trail for every step. For monitoring, we propose monthly population stability checks on the score and inputs, quarterly control limits on default and arrears, and retraining at least annually, only with matured outcomes and approval. The current drift diagnostic is 0.004, well inside 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move from demo to pilot we need four things from IT and data. Default dates and a definition, so the score becomes a forward-looking probability. Bureau pull dates and point-in-time payment history, so we only use what was known at the time. Two years of matured outcomes to validate on a later period. And access controls and vendor approval for the assistant. The three decisions I am asking for today: approve a supervised pilot, commission an independent validation, and start the vendor and data-residency review. Thank you; the appendix holds the full assumptions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age shows a steady decline in risk from under-30s to over-60s; unemployed borrowers default at about twice the average; regions sit within two points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full assumptions log, with what a real bank would need to supply for each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full assumptions log, with what a real bank would need to supply for each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full assumptions log, with what a real bank would need to supply for each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how missing and inconsistent values were handled. No loan was dropped; blanks stay blank with a flag, and the model fills them only inside its training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2788920"/>
            <a:ext cx="10698480" cy="640080"/>
          </a:xfrm>
          <a:prstGeom prst="rect">
            <a:avLst/>
          </a:prstGeom>
          <a:noFill/>
          <a:ln/>
        </p:spPr>
        <p:txBody>
          <a:bodyPr wrap="square" rtlCol="0"/>
          <a:lstStyle>
            <a:lvl1pPr indent="0" marL="0">
              <a:buNone/>
              <a:defRPr lang="en-US" sz="2400" dirty="0">
                <a:solidFill>
                  <a:schemeClr val="accent6"/>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9144000" cy="274320"/>
          </a:xfrm>
          <a:prstGeom prst="rect">
            <a:avLst/>
          </a:prstGeom>
          <a:noFill/>
          <a:ln/>
        </p:spPr>
        <p:txBody>
          <a:bodyPr wrap="square" lIns="0" tIns="0" rIns="0" bIns="0" rtlCol="0" anchor="ctr"/>
          <a:lstStyle/>
          <a:p>
            <a:pPr indent="0" marL="0">
              <a:buNone/>
            </a:pPr>
            <a:r>
              <a:rPr lang="en-US" sz="1000" dirty="0">
                <a:solidFill>
                  <a:schemeClr val="accent3"/>
                </a:solidFill>
              </a:rPr>
              <a:t>Credit Risk Workspace  |  Synthetic portfolio; every figure is computed from the project outputs</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3D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chart" Target="/ppt/charts/chart10.xml"/><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097280"/>
          </a:xfrm>
          <a:prstGeom prst="rect">
            <a:avLst/>
          </a:prstGeom>
          <a:noFill/>
          <a:ln/>
        </p:spPr>
        <p:txBody>
          <a:bodyPr wrap="square" lIns="0" tIns="0" rIns="0" bIns="0" rtlCol="0" anchor="b"/>
          <a:lstStyle/>
          <a:p>
            <a:pPr algn="l" indent="0" marL="0">
              <a:buNone/>
            </a:pPr>
            <a:r>
              <a:rPr lang="en-US" sz="4800" b="1" dirty="0">
                <a:solidFill>
                  <a:schemeClr val="bg1"/>
                </a:solidFill>
              </a:rPr>
              <a:t>Credit Risk Workspace</a:t>
            </a:r>
            <a:endParaRPr lang="en-US" sz="4800" dirty="0"/>
          </a:p>
        </p:txBody>
      </p:sp>
      <p:sp>
        <p:nvSpPr>
          <p:cNvPr id="3" name="Text 0"/>
          <p:cNvSpPr/>
          <p:nvPr>
            <p:ph idx="101" type="body" hasCustomPrompt="1"/>
          </p:nvPr>
        </p:nvSpPr>
        <p:spPr>
          <a:xfrm>
            <a:off x="731520" y="2788920"/>
            <a:ext cx="10698480" cy="640080"/>
          </a:xfrm>
          <a:prstGeom prst="rect">
            <a:avLst/>
          </a:prstGeom>
          <a:noFill/>
          <a:ln/>
        </p:spPr>
        <p:txBody>
          <a:bodyPr wrap="square" lIns="0" tIns="0" rIns="0" bIns="0" rtlCol="0" anchor="t"/>
          <a:lstStyle/>
          <a:p>
            <a:pPr indent="0" marL="0">
              <a:buNone/>
            </a:pPr>
            <a:r>
              <a:rPr lang="en-US" sz="2400" dirty="0">
                <a:solidFill>
                  <a:schemeClr val="accent6"/>
                </a:solidFill>
              </a:rPr>
              <a:t>Where our portfolio risk sits, and how we watch it</a:t>
            </a:r>
            <a:endParaRPr lang="en-US" sz="2400" dirty="0"/>
          </a:p>
        </p:txBody>
      </p:sp>
      <p:sp>
        <p:nvSpPr>
          <p:cNvPr id="4" name="Text 2"/>
          <p:cNvSpPr txBox="1"/>
          <p:nvPr/>
        </p:nvSpPr>
        <p:spPr>
          <a:xfrm>
            <a:off x="731520" y="3611880"/>
            <a:ext cx="10698480" cy="365760"/>
          </a:xfrm>
          <a:prstGeom prst="rect">
            <a:avLst/>
          </a:prstGeom>
          <a:noFill/>
          <a:ln/>
        </p:spPr>
        <p:txBody>
          <a:bodyPr wrap="square" lIns="0" tIns="0" rIns="0" bIns="0" rtlCol="0" anchor="t"/>
          <a:lstStyle/>
          <a:p>
            <a:pPr indent="0" marL="0">
              <a:buNone/>
            </a:pPr>
            <a:r>
              <a:rPr lang="en-US" sz="1600" dirty="0">
                <a:solidFill>
                  <a:schemeClr val="accent6"/>
                </a:solidFill>
                <a:latin typeface="+mn-lt" pitchFamily="34" charset="0"/>
                <a:ea typeface="+mn-lt" pitchFamily="34" charset="-122"/>
                <a:cs typeface="+mn-lt" pitchFamily="34" charset="-120"/>
              </a:rPr>
              <a:t>Briefing for the Chief Risk Officer  ·  27 October 2026</a:t>
            </a:r>
            <a:endParaRPr lang="en-US" sz="1600" dirty="0"/>
          </a:p>
        </p:txBody>
      </p:sp>
      <p:sp>
        <p:nvSpPr>
          <p:cNvPr id="5" name="title-chip-1"/>
          <p:cNvSpPr/>
          <p:nvPr/>
        </p:nvSpPr>
        <p:spPr>
          <a:xfrm>
            <a:off x="731520" y="4800600"/>
            <a:ext cx="2468880" cy="1143000"/>
          </a:xfrm>
          <a:prstGeom prst="roundRect">
            <a:avLst>
              <a:gd name="adj" fmla="val 8000"/>
            </a:avLst>
          </a:prstGeom>
          <a:solidFill>
            <a:schemeClr val="bg1">
              <a:alpha val="10000"/>
            </a:schemeClr>
          </a:solidFill>
          <a:ln w="9525">
            <a:solidFill>
              <a:schemeClr val="accent6"/>
            </a:solidFill>
            <a:prstDash val="solid"/>
          </a:ln>
        </p:spPr>
      </p:sp>
      <p:sp>
        <p:nvSpPr>
          <p:cNvPr id="6" name="Text 4"/>
          <p:cNvSpPr txBox="1"/>
          <p:nvPr/>
        </p:nvSpPr>
        <p:spPr>
          <a:xfrm>
            <a:off x="914400" y="4919472"/>
            <a:ext cx="2103120" cy="548640"/>
          </a:xfrm>
          <a:prstGeom prst="rect">
            <a:avLst/>
          </a:prstGeom>
          <a:noFill/>
          <a:ln/>
        </p:spPr>
        <p:txBody>
          <a:bodyPr wrap="square" lIns="0" tIns="0" rIns="0" bIns="0" rtlCol="0" anchor="t"/>
          <a:lstStyle/>
          <a:p>
            <a:pPr indent="0" marL="0">
              <a:buNone/>
            </a:pPr>
            <a:r>
              <a:rPr lang="en-US" sz="3000" b="1" dirty="0">
                <a:solidFill>
                  <a:schemeClr val="bg1"/>
                </a:solidFill>
                <a:latin typeface="+mj-lt" pitchFamily="34" charset="0"/>
                <a:ea typeface="+mj-lt" pitchFamily="34" charset="-122"/>
                <a:cs typeface="+mj-lt" pitchFamily="34" charset="-120"/>
              </a:rPr>
              <a:t>10,000</a:t>
            </a:r>
            <a:endParaRPr lang="en-US" sz="3000" dirty="0"/>
          </a:p>
        </p:txBody>
      </p:sp>
      <p:sp>
        <p:nvSpPr>
          <p:cNvPr id="7" name="Text 5"/>
          <p:cNvSpPr txBox="1"/>
          <p:nvPr/>
        </p:nvSpPr>
        <p:spPr>
          <a:xfrm>
            <a:off x="914400" y="5468112"/>
            <a:ext cx="2103120" cy="365760"/>
          </a:xfrm>
          <a:prstGeom prst="rect">
            <a:avLst/>
          </a:prstGeom>
          <a:noFill/>
          <a:ln/>
        </p:spPr>
        <p:txBody>
          <a:bodyPr wrap="square" lIns="0" tIns="0" rIns="0" bIns="0" rtlCol="0" anchor="t"/>
          <a:lstStyle/>
          <a:p>
            <a:pPr indent="0" marL="0">
              <a:buNone/>
            </a:pPr>
            <a:r>
              <a:rPr lang="en-US" sz="1400" dirty="0">
                <a:solidFill>
                  <a:schemeClr val="accent6"/>
                </a:solidFill>
                <a:latin typeface="+mn-lt" pitchFamily="34" charset="0"/>
                <a:ea typeface="+mn-lt" pitchFamily="34" charset="-122"/>
                <a:cs typeface="+mn-lt" pitchFamily="34" charset="-120"/>
              </a:rPr>
              <a:t>customers</a:t>
            </a:r>
            <a:endParaRPr lang="en-US" sz="1400" dirty="0"/>
          </a:p>
        </p:txBody>
      </p:sp>
      <p:sp>
        <p:nvSpPr>
          <p:cNvPr id="8" name="title-chip-2"/>
          <p:cNvSpPr/>
          <p:nvPr/>
        </p:nvSpPr>
        <p:spPr>
          <a:xfrm>
            <a:off x="3429000" y="4800600"/>
            <a:ext cx="2468880" cy="1143000"/>
          </a:xfrm>
          <a:prstGeom prst="roundRect">
            <a:avLst>
              <a:gd name="adj" fmla="val 8000"/>
            </a:avLst>
          </a:prstGeom>
          <a:solidFill>
            <a:schemeClr val="bg1">
              <a:alpha val="10000"/>
            </a:schemeClr>
          </a:solidFill>
          <a:ln w="9525">
            <a:solidFill>
              <a:schemeClr val="accent6"/>
            </a:solidFill>
            <a:prstDash val="solid"/>
          </a:ln>
        </p:spPr>
      </p:sp>
      <p:sp>
        <p:nvSpPr>
          <p:cNvPr id="9" name="Text 7"/>
          <p:cNvSpPr txBox="1"/>
          <p:nvPr/>
        </p:nvSpPr>
        <p:spPr>
          <a:xfrm>
            <a:off x="3611880" y="4919472"/>
            <a:ext cx="2103120" cy="548640"/>
          </a:xfrm>
          <a:prstGeom prst="rect">
            <a:avLst/>
          </a:prstGeom>
          <a:noFill/>
          <a:ln/>
        </p:spPr>
        <p:txBody>
          <a:bodyPr wrap="square" lIns="0" tIns="0" rIns="0" bIns="0" rtlCol="0" anchor="t"/>
          <a:lstStyle/>
          <a:p>
            <a:pPr indent="0" marL="0">
              <a:buNone/>
            </a:pPr>
            <a:r>
              <a:rPr lang="en-US" sz="3000" b="1" dirty="0">
                <a:solidFill>
                  <a:schemeClr val="bg1"/>
                </a:solidFill>
                <a:latin typeface="+mj-lt" pitchFamily="34" charset="0"/>
                <a:ea typeface="+mj-lt" pitchFamily="34" charset="-122"/>
                <a:cs typeface="+mj-lt" pitchFamily="34" charset="-120"/>
              </a:rPr>
              <a:t>14,685</a:t>
            </a:r>
            <a:endParaRPr lang="en-US" sz="3000" dirty="0"/>
          </a:p>
        </p:txBody>
      </p:sp>
      <p:sp>
        <p:nvSpPr>
          <p:cNvPr id="10" name="Text 8"/>
          <p:cNvSpPr txBox="1"/>
          <p:nvPr/>
        </p:nvSpPr>
        <p:spPr>
          <a:xfrm>
            <a:off x="3611880" y="5468112"/>
            <a:ext cx="2103120" cy="365760"/>
          </a:xfrm>
          <a:prstGeom prst="rect">
            <a:avLst/>
          </a:prstGeom>
          <a:noFill/>
          <a:ln/>
        </p:spPr>
        <p:txBody>
          <a:bodyPr wrap="square" lIns="0" tIns="0" rIns="0" bIns="0" rtlCol="0" anchor="t"/>
          <a:lstStyle/>
          <a:p>
            <a:pPr indent="0" marL="0">
              <a:buNone/>
            </a:pPr>
            <a:r>
              <a:rPr lang="en-US" sz="1400" dirty="0">
                <a:solidFill>
                  <a:schemeClr val="accent6"/>
                </a:solidFill>
                <a:latin typeface="+mn-lt" pitchFamily="34" charset="0"/>
                <a:ea typeface="+mn-lt" pitchFamily="34" charset="-122"/>
                <a:cs typeface="+mn-lt" pitchFamily="34" charset="-120"/>
              </a:rPr>
              <a:t>loans</a:t>
            </a:r>
            <a:endParaRPr lang="en-US" sz="1400" dirty="0"/>
          </a:p>
        </p:txBody>
      </p:sp>
      <p:sp>
        <p:nvSpPr>
          <p:cNvPr id="11" name="title-chip-3"/>
          <p:cNvSpPr/>
          <p:nvPr/>
        </p:nvSpPr>
        <p:spPr>
          <a:xfrm>
            <a:off x="6126480" y="4800600"/>
            <a:ext cx="2468880" cy="1143000"/>
          </a:xfrm>
          <a:prstGeom prst="roundRect">
            <a:avLst>
              <a:gd name="adj" fmla="val 8000"/>
            </a:avLst>
          </a:prstGeom>
          <a:solidFill>
            <a:schemeClr val="bg1">
              <a:alpha val="10000"/>
            </a:schemeClr>
          </a:solidFill>
          <a:ln w="9525">
            <a:solidFill>
              <a:schemeClr val="accent6"/>
            </a:solidFill>
            <a:prstDash val="solid"/>
          </a:ln>
        </p:spPr>
      </p:sp>
      <p:sp>
        <p:nvSpPr>
          <p:cNvPr id="12" name="Text 10"/>
          <p:cNvSpPr txBox="1"/>
          <p:nvPr/>
        </p:nvSpPr>
        <p:spPr>
          <a:xfrm>
            <a:off x="6309360" y="4919472"/>
            <a:ext cx="2103120" cy="548640"/>
          </a:xfrm>
          <a:prstGeom prst="rect">
            <a:avLst/>
          </a:prstGeom>
          <a:noFill/>
          <a:ln/>
        </p:spPr>
        <p:txBody>
          <a:bodyPr wrap="square" lIns="0" tIns="0" rIns="0" bIns="0" rtlCol="0" anchor="t"/>
          <a:lstStyle/>
          <a:p>
            <a:pPr indent="0" marL="0">
              <a:buNone/>
            </a:pPr>
            <a:r>
              <a:rPr lang="en-US" sz="3000" b="1" dirty="0">
                <a:solidFill>
                  <a:schemeClr val="bg1"/>
                </a:solidFill>
                <a:latin typeface="+mj-lt" pitchFamily="34" charset="0"/>
                <a:ea typeface="+mj-lt" pitchFamily="34" charset="-122"/>
                <a:cs typeface="+mj-lt" pitchFamily="34" charset="-120"/>
              </a:rPr>
              <a:t>16.1%</a:t>
            </a:r>
            <a:endParaRPr lang="en-US" sz="3000" dirty="0"/>
          </a:p>
        </p:txBody>
      </p:sp>
      <p:sp>
        <p:nvSpPr>
          <p:cNvPr id="13" name="Text 11"/>
          <p:cNvSpPr txBox="1"/>
          <p:nvPr/>
        </p:nvSpPr>
        <p:spPr>
          <a:xfrm>
            <a:off x="6309360" y="5468112"/>
            <a:ext cx="2103120" cy="365760"/>
          </a:xfrm>
          <a:prstGeom prst="rect">
            <a:avLst/>
          </a:prstGeom>
          <a:noFill/>
          <a:ln/>
        </p:spPr>
        <p:txBody>
          <a:bodyPr wrap="square" lIns="0" tIns="0" rIns="0" bIns="0" rtlCol="0" anchor="t"/>
          <a:lstStyle/>
          <a:p>
            <a:pPr indent="0" marL="0">
              <a:buNone/>
            </a:pPr>
            <a:r>
              <a:rPr lang="en-US" sz="1400" dirty="0">
                <a:solidFill>
                  <a:schemeClr val="accent6"/>
                </a:solidFill>
                <a:latin typeface="+mn-lt" pitchFamily="34" charset="0"/>
                <a:ea typeface="+mn-lt" pitchFamily="34" charset="-122"/>
                <a:cs typeface="+mn-lt" pitchFamily="34" charset="-120"/>
              </a:rPr>
              <a:t>labelled defaults</a:t>
            </a:r>
            <a:endParaRPr lang="en-US" sz="1400" dirty="0"/>
          </a:p>
        </p:txBody>
      </p:sp>
      <p:sp>
        <p:nvSpPr>
          <p:cNvPr id="14" name="title-chip-4"/>
          <p:cNvSpPr/>
          <p:nvPr/>
        </p:nvSpPr>
        <p:spPr>
          <a:xfrm>
            <a:off x="8823960" y="4800600"/>
            <a:ext cx="2468880" cy="1143000"/>
          </a:xfrm>
          <a:prstGeom prst="roundRect">
            <a:avLst>
              <a:gd name="adj" fmla="val 8000"/>
            </a:avLst>
          </a:prstGeom>
          <a:solidFill>
            <a:schemeClr val="bg1">
              <a:alpha val="10000"/>
            </a:schemeClr>
          </a:solidFill>
          <a:ln w="9525">
            <a:solidFill>
              <a:schemeClr val="accent6"/>
            </a:solidFill>
            <a:prstDash val="solid"/>
          </a:ln>
        </p:spPr>
      </p:sp>
      <p:sp>
        <p:nvSpPr>
          <p:cNvPr id="15" name="Text 13"/>
          <p:cNvSpPr txBox="1"/>
          <p:nvPr/>
        </p:nvSpPr>
        <p:spPr>
          <a:xfrm>
            <a:off x="9006840" y="4919472"/>
            <a:ext cx="2103120" cy="548640"/>
          </a:xfrm>
          <a:prstGeom prst="rect">
            <a:avLst/>
          </a:prstGeom>
          <a:noFill/>
          <a:ln/>
        </p:spPr>
        <p:txBody>
          <a:bodyPr wrap="square" lIns="0" tIns="0" rIns="0" bIns="0" rtlCol="0" anchor="t"/>
          <a:lstStyle/>
          <a:p>
            <a:pPr indent="0" marL="0">
              <a:buNone/>
            </a:pPr>
            <a:r>
              <a:rPr lang="en-US" sz="3000" b="1" dirty="0">
                <a:solidFill>
                  <a:schemeClr val="bg1"/>
                </a:solidFill>
                <a:latin typeface="+mj-lt" pitchFamily="34" charset="0"/>
                <a:ea typeface="+mj-lt" pitchFamily="34" charset="-122"/>
                <a:cs typeface="+mj-lt" pitchFamily="34" charset="-120"/>
              </a:rPr>
              <a:t>52%</a:t>
            </a:r>
            <a:endParaRPr lang="en-US" sz="3000" dirty="0"/>
          </a:p>
        </p:txBody>
      </p:sp>
      <p:sp>
        <p:nvSpPr>
          <p:cNvPr id="16" name="Text 14"/>
          <p:cNvSpPr txBox="1"/>
          <p:nvPr/>
        </p:nvSpPr>
        <p:spPr>
          <a:xfrm>
            <a:off x="9006840" y="5468112"/>
            <a:ext cx="2103120" cy="365760"/>
          </a:xfrm>
          <a:prstGeom prst="rect">
            <a:avLst/>
          </a:prstGeom>
          <a:noFill/>
          <a:ln/>
        </p:spPr>
        <p:txBody>
          <a:bodyPr wrap="square" lIns="0" tIns="0" rIns="0" bIns="0" rtlCol="0" anchor="t"/>
          <a:lstStyle/>
          <a:p>
            <a:pPr indent="0" marL="0">
              <a:buNone/>
            </a:pPr>
            <a:r>
              <a:rPr lang="en-US" sz="1400" dirty="0">
                <a:solidFill>
                  <a:schemeClr val="accent6"/>
                </a:solidFill>
                <a:latin typeface="+mn-lt" pitchFamily="34" charset="0"/>
                <a:ea typeface="+mn-lt" pitchFamily="34" charset="-122"/>
                <a:cs typeface="+mn-lt" pitchFamily="34" charset="-120"/>
              </a:rPr>
              <a:t>of lending in mortgages</a:t>
            </a:r>
            <a:endParaRPr lang="en-US" sz="1400" dirty="0"/>
          </a:p>
        </p:txBody>
      </p:sp>
      <p:sp>
        <p:nvSpPr>
          <p:cNvPr id="17" name="Text 15"/>
          <p:cNvSpPr txBox="1"/>
          <p:nvPr/>
        </p:nvSpPr>
        <p:spPr>
          <a:xfrm>
            <a:off x="731520" y="6172200"/>
            <a:ext cx="10698480" cy="274320"/>
          </a:xfrm>
          <a:prstGeom prst="rect">
            <a:avLst/>
          </a:prstGeom>
          <a:noFill/>
          <a:ln/>
        </p:spPr>
        <p:txBody>
          <a:bodyPr wrap="square" lIns="0" tIns="0" rIns="0" bIns="0" rtlCol="0" anchor="t"/>
          <a:lstStyle/>
          <a:p>
            <a:pPr indent="0" marL="0">
              <a:buNone/>
            </a:pPr>
            <a:r>
              <a:rPr lang="en-US" sz="1100" dirty="0">
                <a:solidFill>
                  <a:schemeClr val="accent6"/>
                </a:solidFill>
                <a:latin typeface="+mn-lt" pitchFamily="34" charset="0"/>
                <a:ea typeface="+mn-lt" pitchFamily="34" charset="-122"/>
                <a:cs typeface="+mn-lt" pitchFamily="34" charset="-120"/>
              </a:rPr>
              <a:t>Synthetic data supplied for the assignment; no real customer information.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Mortgages concentrate our risk; the model and assistant are ready for a supervised pilot</a:t>
            </a:r>
            <a:endParaRPr lang="en-US" sz="3600" dirty="0"/>
          </a:p>
        </p:txBody>
      </p:sp>
      <p:sp>
        <p:nvSpPr>
          <p:cNvPr id="3" name="summary-card-1"/>
          <p:cNvSpPr/>
          <p:nvPr/>
        </p:nvSpPr>
        <p:spPr>
          <a:xfrm>
            <a:off x="548640" y="1691640"/>
            <a:ext cx="2567864" cy="2880360"/>
          </a:xfrm>
          <a:prstGeom prst="roundRect">
            <a:avLst>
              <a:gd name="adj" fmla="val 3561"/>
            </a:avLst>
          </a:prstGeom>
          <a:solidFill>
            <a:schemeClr val="bg2"/>
          </a:solidFill>
          <a:ln w="9525">
            <a:solidFill>
              <a:schemeClr val="bg2"/>
            </a:solidFill>
            <a:prstDash val="solid"/>
          </a:ln>
        </p:spPr>
      </p:sp>
      <p:sp>
        <p:nvSpPr>
          <p:cNvPr id="4" name="Text 2"/>
          <p:cNvSpPr txBox="1"/>
          <p:nvPr/>
        </p:nvSpPr>
        <p:spPr>
          <a:xfrm>
            <a:off x="777240" y="1874520"/>
            <a:ext cx="2110664" cy="868680"/>
          </a:xfrm>
          <a:prstGeom prst="rect">
            <a:avLst/>
          </a:prstGeom>
          <a:noFill/>
          <a:ln/>
        </p:spPr>
        <p:txBody>
          <a:bodyPr wrap="square" lIns="0" tIns="0" rIns="0" bIns="0" rtlCol="0" anchor="t"/>
          <a:lstStyle/>
          <a:p>
            <a:pPr indent="0" marL="0">
              <a:buNone/>
            </a:pPr>
            <a:r>
              <a:rPr lang="en-US" sz="4800" b="1" dirty="0">
                <a:solidFill>
                  <a:schemeClr val="accent2"/>
                </a:solidFill>
                <a:latin typeface="+mj-lt" pitchFamily="34" charset="0"/>
                <a:ea typeface="+mj-lt" pitchFamily="34" charset="-122"/>
                <a:cs typeface="+mj-lt" pitchFamily="34" charset="-120"/>
              </a:rPr>
              <a:t>52%</a:t>
            </a:r>
            <a:endParaRPr lang="en-US" sz="4800" dirty="0"/>
          </a:p>
        </p:txBody>
      </p:sp>
      <p:sp>
        <p:nvSpPr>
          <p:cNvPr id="5" name="Text 3"/>
          <p:cNvSpPr txBox="1"/>
          <p:nvPr/>
        </p:nvSpPr>
        <p:spPr>
          <a:xfrm>
            <a:off x="777240" y="2834640"/>
            <a:ext cx="2110664" cy="1600200"/>
          </a:xfrm>
          <a:prstGeom prst="rect">
            <a:avLst/>
          </a:prstGeom>
          <a:noFill/>
          <a:ln/>
        </p:spPr>
        <p:txBody>
          <a:bodyPr wrap="square" lIns="0" tIns="0" rIns="0" bIns="0" rtlCol="0" anchor="t"/>
          <a:lstStyle/>
          <a:p>
            <a:pPr indent="0" marL="0">
              <a:buNone/>
            </a:pPr>
            <a:r>
              <a:rPr lang="en-US" sz="1500" dirty="0">
                <a:solidFill>
                  <a:schemeClr val="tx1"/>
                </a:solidFill>
                <a:latin typeface="+mn-lt" pitchFamily="34" charset="0"/>
                <a:ea typeface="+mn-lt" pitchFamily="34" charset="-122"/>
                <a:cs typeface="+mn-lt" pitchFamily="34" charset="-120"/>
              </a:rPr>
              <a:t>of lending is in mortgages, which default at 24.7%: 1.5x the portfolio rate</a:t>
            </a:r>
            <a:endParaRPr lang="en-US" sz="1500" dirty="0"/>
          </a:p>
        </p:txBody>
      </p:sp>
      <p:sp>
        <p:nvSpPr>
          <p:cNvPr id="6" name="summary-card-2"/>
          <p:cNvSpPr/>
          <p:nvPr/>
        </p:nvSpPr>
        <p:spPr>
          <a:xfrm>
            <a:off x="3390824" y="1691640"/>
            <a:ext cx="2567864" cy="2880360"/>
          </a:xfrm>
          <a:prstGeom prst="roundRect">
            <a:avLst>
              <a:gd name="adj" fmla="val 3561"/>
            </a:avLst>
          </a:prstGeom>
          <a:solidFill>
            <a:schemeClr val="bg2"/>
          </a:solidFill>
          <a:ln w="9525">
            <a:solidFill>
              <a:schemeClr val="bg2"/>
            </a:solidFill>
            <a:prstDash val="solid"/>
          </a:ln>
        </p:spPr>
      </p:sp>
      <p:sp>
        <p:nvSpPr>
          <p:cNvPr id="7" name="Text 5"/>
          <p:cNvSpPr txBox="1"/>
          <p:nvPr/>
        </p:nvSpPr>
        <p:spPr>
          <a:xfrm>
            <a:off x="3619424" y="1874520"/>
            <a:ext cx="2110664" cy="868680"/>
          </a:xfrm>
          <a:prstGeom prst="rect">
            <a:avLst/>
          </a:prstGeom>
          <a:noFill/>
          <a:ln/>
        </p:spPr>
        <p:txBody>
          <a:bodyPr wrap="square" lIns="0" tIns="0" rIns="0" bIns="0" rtlCol="0" anchor="t"/>
          <a:lstStyle/>
          <a:p>
            <a:pPr indent="0" marL="0">
              <a:buNone/>
            </a:pPr>
            <a:r>
              <a:rPr lang="en-US" sz="4800" b="1" dirty="0">
                <a:solidFill>
                  <a:schemeClr val="accent2"/>
                </a:solidFill>
                <a:latin typeface="+mj-lt" pitchFamily="34" charset="0"/>
                <a:ea typeface="+mj-lt" pitchFamily="34" charset="-122"/>
                <a:cs typeface="+mj-lt" pitchFamily="34" charset="-120"/>
              </a:rPr>
              <a:t>2.2x</a:t>
            </a:r>
            <a:endParaRPr lang="en-US" sz="4800" dirty="0"/>
          </a:p>
        </p:txBody>
      </p:sp>
      <p:sp>
        <p:nvSpPr>
          <p:cNvPr id="8" name="Text 6"/>
          <p:cNvSpPr txBox="1"/>
          <p:nvPr/>
        </p:nvSpPr>
        <p:spPr>
          <a:xfrm>
            <a:off x="3619424" y="2834640"/>
            <a:ext cx="2110664" cy="1600200"/>
          </a:xfrm>
          <a:prstGeom prst="rect">
            <a:avLst/>
          </a:prstGeom>
          <a:noFill/>
          <a:ln/>
        </p:spPr>
        <p:txBody>
          <a:bodyPr wrap="square" lIns="0" tIns="0" rIns="0" bIns="0" rtlCol="0" anchor="t"/>
          <a:lstStyle/>
          <a:p>
            <a:pPr indent="0" marL="0">
              <a:buNone/>
            </a:pPr>
            <a:r>
              <a:rPr lang="en-US" sz="1500" dirty="0">
                <a:solidFill>
                  <a:schemeClr val="tx1"/>
                </a:solidFill>
                <a:latin typeface="+mn-lt" pitchFamily="34" charset="0"/>
                <a:ea typeface="+mn-lt" pitchFamily="34" charset="-122"/>
                <a:cs typeface="+mn-lt" pitchFamily="34" charset="-120"/>
              </a:rPr>
              <a:t>default rate with three or more debts written off elsewhere (31.4% vs 14.6% with none)</a:t>
            </a:r>
            <a:endParaRPr lang="en-US" sz="1500" dirty="0"/>
          </a:p>
        </p:txBody>
      </p:sp>
      <p:sp>
        <p:nvSpPr>
          <p:cNvPr id="9" name="summary-card-3"/>
          <p:cNvSpPr/>
          <p:nvPr/>
        </p:nvSpPr>
        <p:spPr>
          <a:xfrm>
            <a:off x="6233008" y="1691640"/>
            <a:ext cx="2567864" cy="2880360"/>
          </a:xfrm>
          <a:prstGeom prst="roundRect">
            <a:avLst>
              <a:gd name="adj" fmla="val 3561"/>
            </a:avLst>
          </a:prstGeom>
          <a:solidFill>
            <a:schemeClr val="bg2"/>
          </a:solidFill>
          <a:ln w="9525">
            <a:solidFill>
              <a:schemeClr val="bg2"/>
            </a:solidFill>
            <a:prstDash val="solid"/>
          </a:ln>
        </p:spPr>
      </p:sp>
      <p:sp>
        <p:nvSpPr>
          <p:cNvPr id="10" name="Text 8"/>
          <p:cNvSpPr txBox="1"/>
          <p:nvPr/>
        </p:nvSpPr>
        <p:spPr>
          <a:xfrm>
            <a:off x="6461608" y="1874520"/>
            <a:ext cx="2110664" cy="868680"/>
          </a:xfrm>
          <a:prstGeom prst="rect">
            <a:avLst/>
          </a:prstGeom>
          <a:noFill/>
          <a:ln/>
        </p:spPr>
        <p:txBody>
          <a:bodyPr wrap="square" lIns="0" tIns="0" rIns="0" bIns="0" rtlCol="0" anchor="t"/>
          <a:lstStyle/>
          <a:p>
            <a:pPr indent="0" marL="0">
              <a:buNone/>
            </a:pPr>
            <a:r>
              <a:rPr lang="en-US" sz="4800" b="1" dirty="0">
                <a:solidFill>
                  <a:schemeClr val="accent1"/>
                </a:solidFill>
                <a:latin typeface="+mj-lt" pitchFamily="34" charset="0"/>
                <a:ea typeface="+mj-lt" pitchFamily="34" charset="-122"/>
                <a:cs typeface="+mj-lt" pitchFamily="34" charset="-120"/>
              </a:rPr>
              <a:t>0.68</a:t>
            </a:r>
            <a:endParaRPr lang="en-US" sz="4800" dirty="0"/>
          </a:p>
        </p:txBody>
      </p:sp>
      <p:sp>
        <p:nvSpPr>
          <p:cNvPr id="11" name="Text 9"/>
          <p:cNvSpPr txBox="1"/>
          <p:nvPr/>
        </p:nvSpPr>
        <p:spPr>
          <a:xfrm>
            <a:off x="6461608" y="2834640"/>
            <a:ext cx="2110664" cy="1600200"/>
          </a:xfrm>
          <a:prstGeom prst="rect">
            <a:avLst/>
          </a:prstGeom>
          <a:noFill/>
          <a:ln/>
        </p:spPr>
        <p:txBody>
          <a:bodyPr wrap="square" lIns="0" tIns="0" rIns="0" bIns="0" rtlCol="0" anchor="t"/>
          <a:lstStyle/>
          <a:p>
            <a:pPr indent="0" marL="0">
              <a:buNone/>
            </a:pPr>
            <a:r>
              <a:rPr lang="en-US" sz="1500" dirty="0">
                <a:solidFill>
                  <a:schemeClr val="tx1"/>
                </a:solidFill>
                <a:latin typeface="+mn-lt" pitchFamily="34" charset="0"/>
                <a:ea typeface="+mn-lt" pitchFamily="34" charset="-122"/>
                <a:cs typeface="+mn-lt" pitchFamily="34" charset="-120"/>
              </a:rPr>
              <a:t>test AUC; bureau and repayment history lift it from 0.65 on application data alone</a:t>
            </a:r>
            <a:endParaRPr lang="en-US" sz="1500" dirty="0"/>
          </a:p>
        </p:txBody>
      </p:sp>
      <p:sp>
        <p:nvSpPr>
          <p:cNvPr id="12" name="summary-card-4"/>
          <p:cNvSpPr/>
          <p:nvPr/>
        </p:nvSpPr>
        <p:spPr>
          <a:xfrm>
            <a:off x="9075191" y="1691640"/>
            <a:ext cx="2567864" cy="2880360"/>
          </a:xfrm>
          <a:prstGeom prst="roundRect">
            <a:avLst>
              <a:gd name="adj" fmla="val 3561"/>
            </a:avLst>
          </a:prstGeom>
          <a:solidFill>
            <a:schemeClr val="bg2"/>
          </a:solidFill>
          <a:ln w="9525">
            <a:solidFill>
              <a:schemeClr val="bg2"/>
            </a:solidFill>
            <a:prstDash val="solid"/>
          </a:ln>
        </p:spPr>
      </p:sp>
      <p:sp>
        <p:nvSpPr>
          <p:cNvPr id="13" name="Text 11"/>
          <p:cNvSpPr txBox="1"/>
          <p:nvPr/>
        </p:nvSpPr>
        <p:spPr>
          <a:xfrm>
            <a:off x="9303791" y="1874520"/>
            <a:ext cx="2110664" cy="868680"/>
          </a:xfrm>
          <a:prstGeom prst="rect">
            <a:avLst/>
          </a:prstGeom>
          <a:noFill/>
          <a:ln/>
        </p:spPr>
        <p:txBody>
          <a:bodyPr wrap="square" lIns="0" tIns="0" rIns="0" bIns="0" rtlCol="0" anchor="t"/>
          <a:lstStyle/>
          <a:p>
            <a:pPr indent="0" marL="0">
              <a:buNone/>
            </a:pPr>
            <a:r>
              <a:rPr lang="en-US" sz="4800" b="1" dirty="0">
                <a:solidFill>
                  <a:schemeClr val="accent1"/>
                </a:solidFill>
                <a:latin typeface="+mj-lt" pitchFamily="34" charset="0"/>
                <a:ea typeface="+mj-lt" pitchFamily="34" charset="-122"/>
                <a:cs typeface="+mj-lt" pitchFamily="34" charset="-120"/>
              </a:rPr>
              <a:t>0</a:t>
            </a:r>
            <a:endParaRPr lang="en-US" sz="4800" dirty="0"/>
          </a:p>
        </p:txBody>
      </p:sp>
      <p:sp>
        <p:nvSpPr>
          <p:cNvPr id="14" name="Text 12"/>
          <p:cNvSpPr txBox="1"/>
          <p:nvPr/>
        </p:nvSpPr>
        <p:spPr>
          <a:xfrm>
            <a:off x="9303791" y="2834640"/>
            <a:ext cx="2110664" cy="1600200"/>
          </a:xfrm>
          <a:prstGeom prst="rect">
            <a:avLst/>
          </a:prstGeom>
          <a:noFill/>
          <a:ln/>
        </p:spPr>
        <p:txBody>
          <a:bodyPr wrap="square" lIns="0" tIns="0" rIns="0" bIns="0" rtlCol="0" anchor="t"/>
          <a:lstStyle/>
          <a:p>
            <a:pPr indent="0" marL="0">
              <a:buNone/>
            </a:pPr>
            <a:r>
              <a:rPr lang="en-US" sz="1500" dirty="0">
                <a:solidFill>
                  <a:schemeClr val="tx1"/>
                </a:solidFill>
                <a:latin typeface="+mn-lt" pitchFamily="34" charset="0"/>
                <a:ea typeface="+mn-lt" pitchFamily="34" charset="-122"/>
                <a:cs typeface="+mn-lt" pitchFamily="34" charset="-120"/>
              </a:rPr>
              <a:t>customer records sent to the AI assistant; every figure is calculated inside the bank</a:t>
            </a:r>
            <a:endParaRPr lang="en-US" sz="1500" dirty="0"/>
          </a:p>
        </p:txBody>
      </p:sp>
      <p:sp>
        <p:nvSpPr>
          <p:cNvPr id="15" name="summary-ask"/>
          <p:cNvSpPr/>
          <p:nvPr/>
        </p:nvSpPr>
        <p:spPr>
          <a:xfrm>
            <a:off x="548640" y="4892040"/>
            <a:ext cx="11094415" cy="1051560"/>
          </a:xfrm>
          <a:prstGeom prst="roundRect">
            <a:avLst>
              <a:gd name="adj" fmla="val 8696"/>
            </a:avLst>
          </a:prstGeom>
          <a:solidFill>
            <a:schemeClr val="tx2"/>
          </a:solidFill>
          <a:ln w="9525">
            <a:solidFill>
              <a:schemeClr val="tx2"/>
            </a:solidFill>
            <a:prstDash val="solid"/>
          </a:ln>
        </p:spPr>
      </p:sp>
      <p:sp>
        <p:nvSpPr>
          <p:cNvPr id="16" name="Text 14"/>
          <p:cNvSpPr txBox="1"/>
          <p:nvPr/>
        </p:nvSpPr>
        <p:spPr>
          <a:xfrm>
            <a:off x="822960" y="5029200"/>
            <a:ext cx="10545775" cy="777240"/>
          </a:xfrm>
          <a:prstGeom prst="rect">
            <a:avLst/>
          </a:prstGeom>
          <a:noFill/>
          <a:ln/>
        </p:spPr>
        <p:txBody>
          <a:bodyPr wrap="square" lIns="0" tIns="0" rIns="0" bIns="0" rtlCol="0" anchor="ctr"/>
          <a:lstStyle/>
          <a:p>
            <a:pPr indent="0" marL="0">
              <a:buNone/>
            </a:pPr>
            <a:r>
              <a:rPr lang="en-US" sz="1700" b="1" dirty="0">
                <a:solidFill>
                  <a:schemeClr val="bg1"/>
                </a:solidFill>
                <a:latin typeface="+mn-lt" pitchFamily="34" charset="0"/>
                <a:ea typeface="+mn-lt" pitchFamily="34" charset="-122"/>
                <a:cs typeface="+mn-lt" pitchFamily="34" charset="-120"/>
              </a:rPr>
              <a:t>Our ask today: </a:t>
            </a:r>
            <a:pPr indent="0" marL="0">
              <a:buNone/>
            </a:pPr>
            <a:r>
              <a:rPr lang="en-US" sz="1700" dirty="0">
                <a:solidFill>
                  <a:schemeClr val="bg1"/>
                </a:solidFill>
                <a:latin typeface="+mn-lt" pitchFamily="34" charset="0"/>
                <a:ea typeface="+mn-lt" pitchFamily="34" charset="-122"/>
                <a:cs typeface="+mn-lt" pitchFamily="34" charset="-120"/>
              </a:rPr>
              <a:t>approve a supervised pilot on time-stamped bank data, an independent model validation, and a vendor review for the assistant.</a:t>
            </a:r>
            <a:endParaRPr lang="en-US" sz="17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Risk sits in five disconnected tables, so concentrations surface late</a:t>
            </a:r>
            <a:endParaRPr lang="en-US" sz="3600" dirty="0"/>
          </a:p>
        </p:txBody>
      </p:sp>
      <p:sp>
        <p:nvSpPr>
          <p:cNvPr id="3" name="Text 1"/>
          <p:cNvSpPr txBox="1"/>
          <p:nvPr/>
        </p:nvSpPr>
        <p:spPr>
          <a:xfrm>
            <a:off x="548640" y="1645920"/>
            <a:ext cx="5120640" cy="41148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The problem</a:t>
            </a:r>
            <a:endParaRPr lang="en-US" sz="2000" dirty="0"/>
          </a:p>
        </p:txBody>
      </p:sp>
      <p:sp>
        <p:nvSpPr>
          <p:cNvPr id="4" name="Text 2"/>
          <p:cNvSpPr txBox="1"/>
          <p:nvPr/>
        </p:nvSpPr>
        <p:spPr>
          <a:xfrm>
            <a:off x="548640" y="2103120"/>
            <a:ext cx="5120640" cy="1280160"/>
          </a:xfrm>
          <a:prstGeom prst="rect">
            <a:avLst/>
          </a:prstGeom>
          <a:noFill/>
          <a:ln/>
        </p:spPr>
        <p:txBody>
          <a:bodyPr wrap="square" lIns="0" tIns="0" rIns="0" bIns="0" rtlCol="0" anchor="t"/>
          <a:lstStyle/>
          <a:p>
            <a:pPr indent="0" marL="0">
              <a:buNone/>
            </a:pPr>
            <a:r>
              <a:rPr lang="en-US" sz="1600" dirty="0">
                <a:solidFill>
                  <a:schemeClr val="tx1"/>
                </a:solidFill>
                <a:latin typeface="+mn-lt" pitchFamily="34" charset="0"/>
                <a:ea typeface="+mn-lt" pitchFamily="34" charset="-122"/>
                <a:cs typeface="+mn-lt" pitchFamily="34" charset="-120"/>
              </a:rPr>
              <a:t>Customers, loans, credit bureau, repayments and collections live in separate tables. Answering "where is our risk?" takes manual joins and one-off spreadsheets, so warning signs are seen late.</a:t>
            </a:r>
            <a:endParaRPr lang="en-US" sz="1600" dirty="0"/>
          </a:p>
        </p:txBody>
      </p:sp>
      <p:sp>
        <p:nvSpPr>
          <p:cNvPr id="5" name="Text 3"/>
          <p:cNvSpPr txBox="1"/>
          <p:nvPr/>
        </p:nvSpPr>
        <p:spPr>
          <a:xfrm>
            <a:off x="548640" y="3520440"/>
            <a:ext cx="5120640" cy="41148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Who it is for</a:t>
            </a:r>
            <a:endParaRPr lang="en-US" sz="2000" dirty="0"/>
          </a:p>
        </p:txBody>
      </p:sp>
      <p:sp>
        <p:nvSpPr>
          <p:cNvPr id="6" name="Text 4"/>
          <p:cNvSpPr txBox="1"/>
          <p:nvPr/>
        </p:nvSpPr>
        <p:spPr>
          <a:xfrm>
            <a:off x="548640" y="3977640"/>
            <a:ext cx="512064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mn-lt" pitchFamily="34" charset="0"/>
                <a:ea typeface="+mn-lt" pitchFamily="34" charset="-122"/>
                <a:cs typeface="+mn-lt" pitchFamily="34" charset="-120"/>
              </a:rPr>
              <a:t>Credit-risk analysts and portfolio managers: segment and trend analysis</a:t>
            </a:r>
            <a:endParaRPr lang="en-US" sz="1600" dirty="0"/>
          </a:p>
          <a:p>
            <a:pPr marL="342900" indent="-342900">
              <a:spcAft>
                <a:spcPts val="800"/>
              </a:spcAft>
              <a:buSzPct val="100000"/>
              <a:buChar char="•"/>
            </a:pPr>
            <a:r>
              <a:rPr lang="en-US" sz="1600" dirty="0">
                <a:solidFill>
                  <a:schemeClr val="tx1"/>
                </a:solidFill>
                <a:latin typeface="+mn-lt" pitchFamily="34" charset="0"/>
                <a:ea typeface="+mn-lt" pitchFamily="34" charset="-122"/>
                <a:cs typeface="+mn-lt" pitchFamily="34" charset="-120"/>
              </a:rPr>
              <a:t>Credit officers: one loan's score and its reasons</a:t>
            </a:r>
            <a:endParaRPr lang="en-US" sz="1600" dirty="0"/>
          </a:p>
          <a:p>
            <a:pPr marL="342900" indent="-342900">
              <a:spcAft>
                <a:spcPts val="800"/>
              </a:spcAft>
              <a:buSzPct val="100000"/>
              <a:buChar char="•"/>
            </a:pPr>
            <a:r>
              <a:rPr lang="en-US" sz="1600" dirty="0">
                <a:solidFill>
                  <a:schemeClr val="tx1"/>
                </a:solidFill>
                <a:latin typeface="+mn-lt" pitchFamily="34" charset="0"/>
                <a:ea typeface="+mn-lt" pitchFamily="34" charset="-122"/>
                <a:cs typeface="+mn-lt" pitchFamily="34" charset="-120"/>
              </a:rPr>
              <a:t>Chief Risk Officer: the monthly portfolio review</a:t>
            </a:r>
            <a:endParaRPr lang="en-US" sz="1600" dirty="0"/>
          </a:p>
        </p:txBody>
      </p:sp>
      <p:sp>
        <p:nvSpPr>
          <p:cNvPr id="7" name="scope-in"/>
          <p:cNvSpPr/>
          <p:nvPr/>
        </p:nvSpPr>
        <p:spPr>
          <a:xfrm>
            <a:off x="6217920" y="1645920"/>
            <a:ext cx="5422392" cy="2148840"/>
          </a:xfrm>
          <a:prstGeom prst="roundRect">
            <a:avLst>
              <a:gd name="adj" fmla="val 4255"/>
            </a:avLst>
          </a:prstGeom>
          <a:solidFill>
            <a:schemeClr val="bg2"/>
          </a:solidFill>
          <a:ln w="9525">
            <a:solidFill>
              <a:schemeClr val="bg2"/>
            </a:solidFill>
            <a:prstDash val="solid"/>
          </a:ln>
        </p:spPr>
      </p:sp>
      <p:sp>
        <p:nvSpPr>
          <p:cNvPr id="8" name="Text 6"/>
          <p:cNvSpPr txBox="1"/>
          <p:nvPr/>
        </p:nvSpPr>
        <p:spPr>
          <a:xfrm>
            <a:off x="6446520" y="1810512"/>
            <a:ext cx="4937760" cy="36576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In scope</a:t>
            </a:r>
            <a:endParaRPr lang="en-US" sz="1800" dirty="0"/>
          </a:p>
        </p:txBody>
      </p:sp>
      <p:sp>
        <p:nvSpPr>
          <p:cNvPr id="9" name="Text 7"/>
          <p:cNvSpPr txBox="1"/>
          <p:nvPr/>
        </p:nvSpPr>
        <p:spPr>
          <a:xfrm>
            <a:off x="6446520" y="2240280"/>
            <a:ext cx="498348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mn-lt" pitchFamily="34" charset="0"/>
                <a:ea typeface="+mn-lt" pitchFamily="34" charset="-122"/>
                <a:cs typeface="+mn-lt" pitchFamily="34" charset="-120"/>
              </a:rPr>
              <a:t>All five tables cleaned and joined, every loan kept</a:t>
            </a:r>
            <a:endParaRPr lang="en-US" sz="1400" dirty="0"/>
          </a:p>
          <a:p>
            <a:pPr marL="342900" indent="-342900">
              <a:spcAft>
                <a:spcPts val="300"/>
              </a:spcAft>
              <a:buSzPct val="100000"/>
              <a:buChar char="•"/>
            </a:pPr>
            <a:r>
              <a:rPr lang="en-US" sz="1400" dirty="0">
                <a:solidFill>
                  <a:schemeClr val="tx1"/>
                </a:solidFill>
                <a:latin typeface="+mn-lt" pitchFamily="34" charset="0"/>
                <a:ea typeface="+mn-lt" pitchFamily="34" charset="-122"/>
                <a:cs typeface="+mn-lt" pitchFamily="34" charset="-120"/>
              </a:rPr>
              <a:t>Profiles by income, employment, region, age, product and time</a:t>
            </a:r>
            <a:endParaRPr lang="en-US" sz="1400" dirty="0"/>
          </a:p>
          <a:p>
            <a:pPr marL="342900" indent="-342900">
              <a:spcAft>
                <a:spcPts val="300"/>
              </a:spcAft>
              <a:buSzPct val="100000"/>
              <a:buChar char="•"/>
            </a:pPr>
            <a:r>
              <a:rPr lang="en-US" sz="1400" dirty="0">
                <a:solidFill>
                  <a:schemeClr val="tx1"/>
                </a:solidFill>
                <a:latin typeface="+mn-lt" pitchFamily="34" charset="0"/>
                <a:ea typeface="+mn-lt" pitchFamily="34" charset="-122"/>
                <a:cs typeface="+mn-lt" pitchFamily="34" charset="-120"/>
              </a:rPr>
              <a:t>Default model with per-loan reasons</a:t>
            </a:r>
            <a:endParaRPr lang="en-US" sz="1400" dirty="0"/>
          </a:p>
          <a:p>
            <a:pPr marL="342900" indent="-342900">
              <a:spcAft>
                <a:spcPts val="300"/>
              </a:spcAft>
              <a:buSzPct val="100000"/>
              <a:buChar char="•"/>
            </a:pPr>
            <a:r>
              <a:rPr lang="en-US" sz="1400" dirty="0">
                <a:solidFill>
                  <a:schemeClr val="tx1"/>
                </a:solidFill>
                <a:latin typeface="+mn-lt" pitchFamily="34" charset="0"/>
                <a:ea typeface="+mn-lt" pitchFamily="34" charset="-122"/>
                <a:cs typeface="+mn-lt" pitchFamily="34" charset="-120"/>
              </a:rPr>
              <a:t>Dashboard with filters, loan review and an AI assistant</a:t>
            </a:r>
            <a:endParaRPr lang="en-US" sz="1400" dirty="0"/>
          </a:p>
        </p:txBody>
      </p:sp>
      <p:sp>
        <p:nvSpPr>
          <p:cNvPr id="10" name="scope-out"/>
          <p:cNvSpPr/>
          <p:nvPr/>
        </p:nvSpPr>
        <p:spPr>
          <a:xfrm>
            <a:off x="6217920" y="3977640"/>
            <a:ext cx="5422392" cy="2148840"/>
          </a:xfrm>
          <a:prstGeom prst="roundRect">
            <a:avLst>
              <a:gd name="adj" fmla="val 4255"/>
            </a:avLst>
          </a:prstGeom>
          <a:solidFill>
            <a:schemeClr val="bg2"/>
          </a:solidFill>
          <a:ln w="9525">
            <a:solidFill>
              <a:schemeClr val="bg2"/>
            </a:solidFill>
            <a:prstDash val="solid"/>
          </a:ln>
        </p:spPr>
      </p:sp>
      <p:sp>
        <p:nvSpPr>
          <p:cNvPr id="11" name="Text 9"/>
          <p:cNvSpPr txBox="1"/>
          <p:nvPr/>
        </p:nvSpPr>
        <p:spPr>
          <a:xfrm>
            <a:off x="6446520" y="4142232"/>
            <a:ext cx="4937760" cy="365760"/>
          </a:xfrm>
          <a:prstGeom prst="rect">
            <a:avLst/>
          </a:prstGeom>
          <a:noFill/>
          <a:ln/>
        </p:spPr>
        <p:txBody>
          <a:bodyPr wrap="square" lIns="0" tIns="0" rIns="0" bIns="0" rtlCol="0" anchor="t"/>
          <a:lstStyle/>
          <a:p>
            <a:pPr indent="0" marL="0">
              <a:buNone/>
            </a:pPr>
            <a:r>
              <a:rPr lang="en-US" sz="1800" b="1" dirty="0">
                <a:solidFill>
                  <a:schemeClr val="accent3"/>
                </a:solidFill>
                <a:latin typeface="+mj-lt" pitchFamily="34" charset="0"/>
                <a:ea typeface="+mj-lt" pitchFamily="34" charset="-122"/>
                <a:cs typeface="+mj-lt" pitchFamily="34" charset="-120"/>
              </a:rPr>
              <a:t>Out of scope</a:t>
            </a:r>
            <a:endParaRPr lang="en-US" sz="1800" dirty="0"/>
          </a:p>
        </p:txBody>
      </p:sp>
      <p:sp>
        <p:nvSpPr>
          <p:cNvPr id="12" name="Text 10"/>
          <p:cNvSpPr txBox="1"/>
          <p:nvPr/>
        </p:nvSpPr>
        <p:spPr>
          <a:xfrm>
            <a:off x="6446520" y="4572000"/>
            <a:ext cx="498348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mn-lt" pitchFamily="34" charset="0"/>
                <a:ea typeface="+mn-lt" pitchFamily="34" charset="-122"/>
                <a:cs typeface="+mn-lt" pitchFamily="34" charset="-120"/>
              </a:rPr>
              <a:t>Real customer data, production hosting and login</a:t>
            </a:r>
            <a:endParaRPr lang="en-US" sz="1400" dirty="0"/>
          </a:p>
          <a:p>
            <a:pPr marL="342900" indent="-342900">
              <a:spcAft>
                <a:spcPts val="300"/>
              </a:spcAft>
              <a:buSzPct val="100000"/>
              <a:buChar char="•"/>
            </a:pPr>
            <a:r>
              <a:rPr lang="en-US" sz="1400" dirty="0">
                <a:solidFill>
                  <a:schemeClr val="tx1"/>
                </a:solidFill>
                <a:latin typeface="+mn-lt" pitchFamily="34" charset="0"/>
                <a:ea typeface="+mn-lt" pitchFamily="34" charset="-122"/>
                <a:cs typeface="+mn-lt" pitchFamily="34" charset="-120"/>
              </a:rPr>
              <a:t>Expected loss, pricing and profitability</a:t>
            </a:r>
            <a:endParaRPr lang="en-US" sz="1400" dirty="0"/>
          </a:p>
          <a:p>
            <a:pPr marL="342900" indent="-342900">
              <a:spcAft>
                <a:spcPts val="300"/>
              </a:spcAft>
              <a:buSzPct val="100000"/>
              <a:buChar char="•"/>
            </a:pPr>
            <a:r>
              <a:rPr lang="en-US" sz="1400" dirty="0">
                <a:solidFill>
                  <a:schemeClr val="tx1"/>
                </a:solidFill>
                <a:latin typeface="+mn-lt" pitchFamily="34" charset="0"/>
                <a:ea typeface="+mn-lt" pitchFamily="34" charset="-122"/>
                <a:cs typeface="+mn-lt" pitchFamily="34" charset="-120"/>
              </a:rPr>
              <a:t>A validated 12-month probability of default (no default dates)</a:t>
            </a:r>
            <a:endParaRPr lang="en-US" sz="1400" dirty="0"/>
          </a:p>
          <a:p>
            <a:pPr marL="342900" indent="-342900">
              <a:spcAft>
                <a:spcPts val="300"/>
              </a:spcAft>
              <a:buSzPct val="100000"/>
              <a:buChar char="•"/>
            </a:pPr>
            <a:r>
              <a:rPr lang="en-US" sz="1400" dirty="0">
                <a:solidFill>
                  <a:schemeClr val="tx1"/>
                </a:solidFill>
                <a:latin typeface="+mn-lt" pitchFamily="34" charset="0"/>
                <a:ea typeface="+mn-lt" pitchFamily="34" charset="-122"/>
                <a:cs typeface="+mn-lt" pitchFamily="34" charset="-120"/>
              </a:rPr>
              <a:t>Automatic approve or decline decisions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One pipeline feeds the workspace; customer data never leaves the bank</a:t>
            </a:r>
            <a:endParaRPr lang="en-US" sz="3600" dirty="0"/>
          </a:p>
        </p:txBody>
      </p:sp>
      <p:sp>
        <p:nvSpPr>
          <p:cNvPr id="3" name="Text 1"/>
          <p:cNvSpPr txBox="1"/>
          <p:nvPr/>
        </p:nvSpPr>
        <p:spPr>
          <a:xfrm>
            <a:off x="548640" y="1481328"/>
            <a:ext cx="5486400" cy="274320"/>
          </a:xfrm>
          <a:prstGeom prst="rect">
            <a:avLst/>
          </a:prstGeom>
          <a:noFill/>
          <a:ln/>
        </p:spPr>
        <p:txBody>
          <a:bodyPr wrap="square" lIns="0" tIns="0" rIns="0" bIns="0" rtlCol="0" anchor="t"/>
          <a:lstStyle/>
          <a:p>
            <a:pPr indent="0" marL="0">
              <a:buNone/>
            </a:pPr>
            <a:r>
              <a:rPr lang="en-US" sz="1300" b="1" dirty="0">
                <a:solidFill>
                  <a:schemeClr val="accent3"/>
                </a:solidFill>
                <a:latin typeface="+mn-lt" pitchFamily="34" charset="0"/>
                <a:ea typeface="+mn-lt" pitchFamily="34" charset="-122"/>
                <a:cs typeface="+mn-lt" pitchFamily="34" charset="-120"/>
              </a:rPr>
              <a:t>Pipeline  ·  run_pipeline.py  ·  about 90 seconds</a:t>
            </a:r>
            <a:endParaRPr lang="en-US" sz="1300" dirty="0"/>
          </a:p>
        </p:txBody>
      </p:sp>
      <p:sp>
        <p:nvSpPr>
          <p:cNvPr id="4" name="pipeline-0"/>
          <p:cNvSpPr/>
          <p:nvPr/>
        </p:nvSpPr>
        <p:spPr>
          <a:xfrm>
            <a:off x="548640" y="1801368"/>
            <a:ext cx="2011680" cy="1078992"/>
          </a:xfrm>
          <a:prstGeom prst="roundRect">
            <a:avLst>
              <a:gd name="adj" fmla="val 6780"/>
            </a:avLst>
          </a:prstGeom>
          <a:solidFill>
            <a:schemeClr val="bg1"/>
          </a:solidFill>
          <a:ln w="12700">
            <a:solidFill>
              <a:schemeClr val="accent3"/>
            </a:solidFill>
            <a:prstDash val="solid"/>
          </a:ln>
        </p:spPr>
      </p:sp>
      <p:sp>
        <p:nvSpPr>
          <p:cNvPr id="5" name="Text 3"/>
          <p:cNvSpPr txBox="1"/>
          <p:nvPr/>
        </p:nvSpPr>
        <p:spPr>
          <a:xfrm>
            <a:off x="658368" y="1874520"/>
            <a:ext cx="1792224" cy="960120"/>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5 source CSVs</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customers, loans, bureau, repayments, collections</a:t>
            </a:r>
            <a:endParaRPr lang="en-US" sz="1400" dirty="0"/>
          </a:p>
        </p:txBody>
      </p:sp>
      <p:sp>
        <p:nvSpPr>
          <p:cNvPr id="6" name="pipeline-arrow-0"/>
          <p:cNvSpPr/>
          <p:nvPr/>
        </p:nvSpPr>
        <p:spPr>
          <a:xfrm>
            <a:off x="2560320" y="2340864"/>
            <a:ext cx="259004" cy="914"/>
          </a:xfrm>
          <a:prstGeom prst="line">
            <a:avLst/>
          </a:prstGeom>
          <a:noFill/>
          <a:ln w="15875">
            <a:solidFill>
              <a:schemeClr val="accent3"/>
            </a:solidFill>
            <a:prstDash val="solid"/>
            <a:tailEnd type="triangle"/>
          </a:ln>
        </p:spPr>
      </p:sp>
      <p:sp>
        <p:nvSpPr>
          <p:cNvPr id="7" name="pipeline-1"/>
          <p:cNvSpPr/>
          <p:nvPr/>
        </p:nvSpPr>
        <p:spPr>
          <a:xfrm>
            <a:off x="2819324" y="1801368"/>
            <a:ext cx="2011680" cy="1078992"/>
          </a:xfrm>
          <a:prstGeom prst="roundRect">
            <a:avLst>
              <a:gd name="adj" fmla="val 6780"/>
            </a:avLst>
          </a:prstGeom>
          <a:solidFill>
            <a:schemeClr val="bg1"/>
          </a:solidFill>
          <a:ln w="12700">
            <a:solidFill>
              <a:schemeClr val="accent3"/>
            </a:solidFill>
            <a:prstDash val="solid"/>
          </a:ln>
        </p:spPr>
      </p:sp>
      <p:sp>
        <p:nvSpPr>
          <p:cNvPr id="8" name="Text 6"/>
          <p:cNvSpPr txBox="1"/>
          <p:nvPr/>
        </p:nvSpPr>
        <p:spPr>
          <a:xfrm>
            <a:off x="2929052" y="1874520"/>
            <a:ext cx="1792224" cy="960120"/>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1 Clean and join</a:t>
            </a:r>
            <a:endParaRPr lang="en-US" sz="1400" dirty="0"/>
          </a:p>
          <a:p>
            <a:pPr indent="0" marL="0">
              <a:buNone/>
            </a:pPr>
            <a:r>
              <a:rPr lang="en-US" sz="1200" dirty="0">
                <a:solidFill>
                  <a:schemeClr val="accent1"/>
                </a:solidFill>
                <a:latin typeface="+mn-lt" pitchFamily="34" charset="0"/>
                <a:ea typeface="+mn-lt" pitchFamily="34" charset="-122"/>
                <a:cs typeface="+mn-lt" pitchFamily="34" charset="-120"/>
              </a:rPr>
              <a:t>pandas</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one row per loan, every fix flagged</a:t>
            </a:r>
            <a:endParaRPr lang="en-US" sz="1400" dirty="0"/>
          </a:p>
        </p:txBody>
      </p:sp>
      <p:sp>
        <p:nvSpPr>
          <p:cNvPr id="9" name="pipeline-arrow-1"/>
          <p:cNvSpPr/>
          <p:nvPr/>
        </p:nvSpPr>
        <p:spPr>
          <a:xfrm>
            <a:off x="4831004" y="2340864"/>
            <a:ext cx="259004" cy="914"/>
          </a:xfrm>
          <a:prstGeom prst="line">
            <a:avLst/>
          </a:prstGeom>
          <a:noFill/>
          <a:ln w="15875">
            <a:solidFill>
              <a:schemeClr val="accent3"/>
            </a:solidFill>
            <a:prstDash val="solid"/>
            <a:tailEnd type="triangle"/>
          </a:ln>
        </p:spPr>
      </p:sp>
      <p:sp>
        <p:nvSpPr>
          <p:cNvPr id="10" name="pipeline-2"/>
          <p:cNvSpPr/>
          <p:nvPr/>
        </p:nvSpPr>
        <p:spPr>
          <a:xfrm>
            <a:off x="5090008" y="1801368"/>
            <a:ext cx="2011680" cy="1078992"/>
          </a:xfrm>
          <a:prstGeom prst="roundRect">
            <a:avLst>
              <a:gd name="adj" fmla="val 6780"/>
            </a:avLst>
          </a:prstGeom>
          <a:solidFill>
            <a:schemeClr val="bg1"/>
          </a:solidFill>
          <a:ln w="12700">
            <a:solidFill>
              <a:schemeClr val="accent3"/>
            </a:solidFill>
            <a:prstDash val="solid"/>
          </a:ln>
        </p:spPr>
      </p:sp>
      <p:sp>
        <p:nvSpPr>
          <p:cNvPr id="11" name="Text 9"/>
          <p:cNvSpPr txBox="1"/>
          <p:nvPr/>
        </p:nvSpPr>
        <p:spPr>
          <a:xfrm>
            <a:off x="5199736" y="1874520"/>
            <a:ext cx="1792224" cy="960120"/>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2 Analytics</a:t>
            </a:r>
            <a:endParaRPr lang="en-US" sz="1400" dirty="0"/>
          </a:p>
          <a:p>
            <a:pPr indent="0" marL="0">
              <a:buNone/>
            </a:pPr>
            <a:r>
              <a:rPr lang="en-US" sz="1200" dirty="0">
                <a:solidFill>
                  <a:schemeClr val="accent1"/>
                </a:solidFill>
                <a:latin typeface="+mn-lt" pitchFamily="34" charset="0"/>
                <a:ea typeface="+mn-lt" pitchFamily="34" charset="-122"/>
                <a:cs typeface="+mn-lt" pitchFamily="34" charset="-120"/>
              </a:rPr>
              <a:t>pandas, SciPy, matplotlib</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segments, trends, control limits</a:t>
            </a:r>
            <a:endParaRPr lang="en-US" sz="1400" dirty="0"/>
          </a:p>
        </p:txBody>
      </p:sp>
      <p:sp>
        <p:nvSpPr>
          <p:cNvPr id="12" name="pipeline-arrow-2"/>
          <p:cNvSpPr/>
          <p:nvPr/>
        </p:nvSpPr>
        <p:spPr>
          <a:xfrm>
            <a:off x="7101688" y="2340864"/>
            <a:ext cx="259004" cy="914"/>
          </a:xfrm>
          <a:prstGeom prst="line">
            <a:avLst/>
          </a:prstGeom>
          <a:noFill/>
          <a:ln w="15875">
            <a:solidFill>
              <a:schemeClr val="accent3"/>
            </a:solidFill>
            <a:prstDash val="solid"/>
            <a:tailEnd type="triangle"/>
          </a:ln>
        </p:spPr>
      </p:sp>
      <p:sp>
        <p:nvSpPr>
          <p:cNvPr id="13" name="pipeline-3"/>
          <p:cNvSpPr/>
          <p:nvPr/>
        </p:nvSpPr>
        <p:spPr>
          <a:xfrm>
            <a:off x="7360691" y="1801368"/>
            <a:ext cx="2011680" cy="1078992"/>
          </a:xfrm>
          <a:prstGeom prst="roundRect">
            <a:avLst>
              <a:gd name="adj" fmla="val 6780"/>
            </a:avLst>
          </a:prstGeom>
          <a:solidFill>
            <a:schemeClr val="bg1"/>
          </a:solidFill>
          <a:ln w="12700">
            <a:solidFill>
              <a:schemeClr val="accent3"/>
            </a:solidFill>
            <a:prstDash val="solid"/>
          </a:ln>
        </p:spPr>
      </p:sp>
      <p:sp>
        <p:nvSpPr>
          <p:cNvPr id="14" name="Text 12"/>
          <p:cNvSpPr txBox="1"/>
          <p:nvPr/>
        </p:nvSpPr>
        <p:spPr>
          <a:xfrm>
            <a:off x="7470419" y="1874520"/>
            <a:ext cx="1792224" cy="960120"/>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3 Model</a:t>
            </a:r>
            <a:endParaRPr lang="en-US" sz="1400" dirty="0"/>
          </a:p>
          <a:p>
            <a:pPr indent="0" marL="0">
              <a:buNone/>
            </a:pPr>
            <a:r>
              <a:rPr lang="en-US" sz="1200" dirty="0">
                <a:solidFill>
                  <a:schemeClr val="accent1"/>
                </a:solidFill>
                <a:latin typeface="+mn-lt" pitchFamily="34" charset="0"/>
                <a:ea typeface="+mn-lt" pitchFamily="34" charset="-122"/>
                <a:cs typeface="+mn-lt" pitchFamily="34" charset="-120"/>
              </a:rPr>
              <a:t>scikit-learn, XGBoost</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logistic vs XGBoost, split by customer</a:t>
            </a:r>
            <a:endParaRPr lang="en-US" sz="1400" dirty="0"/>
          </a:p>
        </p:txBody>
      </p:sp>
      <p:sp>
        <p:nvSpPr>
          <p:cNvPr id="15" name="pipeline-arrow-3"/>
          <p:cNvSpPr/>
          <p:nvPr/>
        </p:nvSpPr>
        <p:spPr>
          <a:xfrm>
            <a:off x="9372371" y="2340864"/>
            <a:ext cx="259004" cy="914"/>
          </a:xfrm>
          <a:prstGeom prst="line">
            <a:avLst/>
          </a:prstGeom>
          <a:noFill/>
          <a:ln w="15875">
            <a:solidFill>
              <a:schemeClr val="accent3"/>
            </a:solidFill>
            <a:prstDash val="solid"/>
            <a:tailEnd type="triangle"/>
          </a:ln>
        </p:spPr>
      </p:sp>
      <p:sp>
        <p:nvSpPr>
          <p:cNvPr id="16" name="pipeline-4"/>
          <p:cNvSpPr/>
          <p:nvPr/>
        </p:nvSpPr>
        <p:spPr>
          <a:xfrm>
            <a:off x="9631375" y="1801368"/>
            <a:ext cx="2011680" cy="1078992"/>
          </a:xfrm>
          <a:prstGeom prst="roundRect">
            <a:avLst>
              <a:gd name="adj" fmla="val 6780"/>
            </a:avLst>
          </a:prstGeom>
          <a:solidFill>
            <a:schemeClr val="bg1"/>
          </a:solidFill>
          <a:ln w="12700">
            <a:solidFill>
              <a:schemeClr val="accent3"/>
            </a:solidFill>
            <a:prstDash val="solid"/>
          </a:ln>
        </p:spPr>
      </p:sp>
      <p:sp>
        <p:nvSpPr>
          <p:cNvPr id="17" name="Text 15"/>
          <p:cNvSpPr txBox="1"/>
          <p:nvPr/>
        </p:nvSpPr>
        <p:spPr>
          <a:xfrm>
            <a:off x="9741103" y="1874520"/>
            <a:ext cx="1792224" cy="960120"/>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4 Score and verify</a:t>
            </a:r>
            <a:endParaRPr lang="en-US" sz="1400" dirty="0"/>
          </a:p>
          <a:p>
            <a:pPr indent="0" marL="0">
              <a:buNone/>
            </a:pPr>
            <a:r>
              <a:rPr lang="en-US" sz="1200" dirty="0">
                <a:solidFill>
                  <a:schemeClr val="accent1"/>
                </a:solidFill>
                <a:latin typeface="+mn-lt" pitchFamily="34" charset="0"/>
                <a:ea typeface="+mn-lt" pitchFamily="34" charset="-122"/>
                <a:cs typeface="+mn-lt" pitchFamily="34" charset="-120"/>
              </a:rPr>
              <a:t>joblib, unittest</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reasons per loan, 39 tests</a:t>
            </a:r>
            <a:endParaRPr lang="en-US" sz="1400" dirty="0"/>
          </a:p>
        </p:txBody>
      </p:sp>
      <p:sp>
        <p:nvSpPr>
          <p:cNvPr id="18" name="workspace"/>
          <p:cNvSpPr/>
          <p:nvPr/>
        </p:nvSpPr>
        <p:spPr>
          <a:xfrm>
            <a:off x="3840480" y="3154680"/>
            <a:ext cx="7799832" cy="1600200"/>
          </a:xfrm>
          <a:prstGeom prst="roundRect">
            <a:avLst>
              <a:gd name="adj" fmla="val 5714"/>
            </a:avLst>
          </a:prstGeom>
          <a:solidFill>
            <a:schemeClr val="bg2"/>
          </a:solidFill>
          <a:ln w="9525">
            <a:solidFill>
              <a:schemeClr val="bg2"/>
            </a:solidFill>
            <a:prstDash val="solid"/>
          </a:ln>
        </p:spPr>
      </p:sp>
      <p:sp>
        <p:nvSpPr>
          <p:cNvPr id="19" name="Text 17"/>
          <p:cNvSpPr txBox="1"/>
          <p:nvPr/>
        </p:nvSpPr>
        <p:spPr>
          <a:xfrm>
            <a:off x="4023360" y="3218688"/>
            <a:ext cx="5486400" cy="274320"/>
          </a:xfrm>
          <a:prstGeom prst="rect">
            <a:avLst/>
          </a:prstGeom>
          <a:noFill/>
          <a:ln/>
        </p:spPr>
        <p:txBody>
          <a:bodyPr wrap="square" lIns="0" tIns="0" rIns="0" bIns="0" rtlCol="0" anchor="t"/>
          <a:lstStyle/>
          <a:p>
            <a:pPr indent="0" marL="0">
              <a:buNone/>
            </a:pPr>
            <a:r>
              <a:rPr lang="en-US" sz="1300" b="1" dirty="0">
                <a:solidFill>
                  <a:schemeClr val="accent3"/>
                </a:solidFill>
                <a:latin typeface="+mn-lt" pitchFamily="34" charset="0"/>
                <a:ea typeface="+mn-lt" pitchFamily="34" charset="-122"/>
                <a:cs typeface="+mn-lt" pitchFamily="34" charset="-120"/>
              </a:rPr>
              <a:t>Workspace  ·  Streamlit and Altair  ·  runs locally</a:t>
            </a:r>
            <a:endParaRPr lang="en-US" sz="1300" dirty="0"/>
          </a:p>
        </p:txBody>
      </p:sp>
      <p:sp>
        <p:nvSpPr>
          <p:cNvPr id="20" name="outputs-to-workspace"/>
          <p:cNvSpPr/>
          <p:nvPr/>
        </p:nvSpPr>
        <p:spPr>
          <a:xfrm>
            <a:off x="10634472" y="2880360"/>
            <a:ext cx="914" cy="274320"/>
          </a:xfrm>
          <a:prstGeom prst="line">
            <a:avLst/>
          </a:prstGeom>
          <a:noFill/>
          <a:ln w="15875">
            <a:solidFill>
              <a:schemeClr val="accent3"/>
            </a:solidFill>
            <a:prstDash val="solid"/>
            <a:tailEnd type="triangle"/>
          </a:ln>
        </p:spPr>
      </p:sp>
      <p:sp>
        <p:nvSpPr>
          <p:cNvPr id="21" name="assistant"/>
          <p:cNvSpPr/>
          <p:nvPr/>
        </p:nvSpPr>
        <p:spPr>
          <a:xfrm>
            <a:off x="4023360" y="3566160"/>
            <a:ext cx="3611880" cy="1005840"/>
          </a:xfrm>
          <a:prstGeom prst="roundRect">
            <a:avLst>
              <a:gd name="adj" fmla="val 7273"/>
            </a:avLst>
          </a:prstGeom>
          <a:solidFill>
            <a:schemeClr val="bg1"/>
          </a:solidFill>
          <a:ln w="12700">
            <a:solidFill>
              <a:schemeClr val="accent3"/>
            </a:solidFill>
            <a:prstDash val="solid"/>
          </a:ln>
        </p:spPr>
      </p:sp>
      <p:sp>
        <p:nvSpPr>
          <p:cNvPr id="22" name="Text 20"/>
          <p:cNvSpPr txBox="1"/>
          <p:nvPr/>
        </p:nvSpPr>
        <p:spPr>
          <a:xfrm>
            <a:off x="4133088" y="3630168"/>
            <a:ext cx="3392424" cy="914400"/>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Ask the Portfolio (AI)</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one approved, read-only query per question; pandas computes the answer</a:t>
            </a:r>
            <a:endParaRPr lang="en-US" sz="1400" dirty="0"/>
          </a:p>
        </p:txBody>
      </p:sp>
      <p:sp>
        <p:nvSpPr>
          <p:cNvPr id="23" name="dashboard"/>
          <p:cNvSpPr/>
          <p:nvPr/>
        </p:nvSpPr>
        <p:spPr>
          <a:xfrm>
            <a:off x="7863840" y="3566160"/>
            <a:ext cx="3593592" cy="1005840"/>
          </a:xfrm>
          <a:prstGeom prst="roundRect">
            <a:avLst>
              <a:gd name="adj" fmla="val 7273"/>
            </a:avLst>
          </a:prstGeom>
          <a:solidFill>
            <a:schemeClr val="bg1"/>
          </a:solidFill>
          <a:ln w="12700">
            <a:solidFill>
              <a:schemeClr val="accent3"/>
            </a:solidFill>
            <a:prstDash val="solid"/>
          </a:ln>
        </p:spPr>
      </p:sp>
      <p:sp>
        <p:nvSpPr>
          <p:cNvPr id="24" name="Text 22"/>
          <p:cNvSpPr txBox="1"/>
          <p:nvPr/>
        </p:nvSpPr>
        <p:spPr>
          <a:xfrm>
            <a:off x="7973568" y="3630168"/>
            <a:ext cx="3374136" cy="914400"/>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Dashboard</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7 pages, sidebar filters, loan review with score and reasons</a:t>
            </a:r>
            <a:endParaRPr lang="en-US" sz="1400" dirty="0"/>
          </a:p>
        </p:txBody>
      </p:sp>
      <p:sp>
        <p:nvSpPr>
          <p:cNvPr id="25" name="bank-boundary"/>
          <p:cNvSpPr/>
          <p:nvPr/>
        </p:nvSpPr>
        <p:spPr>
          <a:xfrm>
            <a:off x="3566160" y="3063240"/>
            <a:ext cx="0" cy="1783080"/>
          </a:xfrm>
          <a:prstGeom prst="line">
            <a:avLst/>
          </a:prstGeom>
          <a:noFill/>
          <a:ln w="19050">
            <a:solidFill>
              <a:schemeClr val="accent2"/>
            </a:solidFill>
            <a:prstDash val="dash"/>
          </a:ln>
        </p:spPr>
      </p:sp>
      <p:sp>
        <p:nvSpPr>
          <p:cNvPr id="26" name="Text 24"/>
          <p:cNvSpPr txBox="1"/>
          <p:nvPr/>
        </p:nvSpPr>
        <p:spPr>
          <a:xfrm>
            <a:off x="2880360" y="4864608"/>
            <a:ext cx="1371600" cy="256032"/>
          </a:xfrm>
          <a:prstGeom prst="rect">
            <a:avLst/>
          </a:prstGeom>
          <a:noFill/>
          <a:ln/>
        </p:spPr>
        <p:txBody>
          <a:bodyPr wrap="square" lIns="0" tIns="0" rIns="0" bIns="0" rtlCol="0" anchor="t"/>
          <a:lstStyle/>
          <a:p>
            <a:pPr algn="ctr" indent="0" marL="0">
              <a:buNone/>
            </a:pPr>
            <a:r>
              <a:rPr lang="en-US" sz="1200" b="1" dirty="0">
                <a:solidFill>
                  <a:schemeClr val="accent2"/>
                </a:solidFill>
                <a:latin typeface="+mn-lt" pitchFamily="34" charset="0"/>
                <a:ea typeface="+mn-lt" pitchFamily="34" charset="-122"/>
                <a:cs typeface="+mn-lt" pitchFamily="34" charset="-120"/>
              </a:rPr>
              <a:t>Bank boundary</a:t>
            </a:r>
            <a:endParaRPr lang="en-US" sz="1200" dirty="0"/>
          </a:p>
        </p:txBody>
      </p:sp>
      <p:sp>
        <p:nvSpPr>
          <p:cNvPr id="27" name="claude-api"/>
          <p:cNvSpPr/>
          <p:nvPr/>
        </p:nvSpPr>
        <p:spPr>
          <a:xfrm>
            <a:off x="548640" y="3566160"/>
            <a:ext cx="2743200" cy="1005840"/>
          </a:xfrm>
          <a:prstGeom prst="roundRect">
            <a:avLst>
              <a:gd name="adj" fmla="val 7273"/>
            </a:avLst>
          </a:prstGeom>
          <a:solidFill>
            <a:schemeClr val="bg1"/>
          </a:solidFill>
          <a:ln w="12700">
            <a:solidFill>
              <a:schemeClr val="accent3"/>
            </a:solidFill>
            <a:prstDash val="dash"/>
          </a:ln>
        </p:spPr>
      </p:sp>
      <p:sp>
        <p:nvSpPr>
          <p:cNvPr id="28" name="Text 26"/>
          <p:cNvSpPr txBox="1"/>
          <p:nvPr/>
        </p:nvSpPr>
        <p:spPr>
          <a:xfrm>
            <a:off x="658368" y="3630168"/>
            <a:ext cx="2523744" cy="914400"/>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Claude API  ·  Sonnet 5.5</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gets the question and field names; returns a query plan, never numbers</a:t>
            </a:r>
            <a:endParaRPr lang="en-US" sz="1400" dirty="0"/>
          </a:p>
        </p:txBody>
      </p:sp>
      <p:sp>
        <p:nvSpPr>
          <p:cNvPr id="29" name="question-out"/>
          <p:cNvSpPr/>
          <p:nvPr/>
        </p:nvSpPr>
        <p:spPr>
          <a:xfrm flipH="1">
            <a:off x="3291840" y="3840480"/>
            <a:ext cx="731520" cy="914"/>
          </a:xfrm>
          <a:prstGeom prst="line">
            <a:avLst/>
          </a:prstGeom>
          <a:noFill/>
          <a:ln w="15875">
            <a:solidFill>
              <a:schemeClr val="accent3"/>
            </a:solidFill>
            <a:prstDash val="solid"/>
            <a:tailEnd type="triangle"/>
          </a:ln>
        </p:spPr>
      </p:sp>
      <p:sp>
        <p:nvSpPr>
          <p:cNvPr id="30" name="plan-back"/>
          <p:cNvSpPr/>
          <p:nvPr/>
        </p:nvSpPr>
        <p:spPr>
          <a:xfrm>
            <a:off x="3291840" y="4297680"/>
            <a:ext cx="731520" cy="914"/>
          </a:xfrm>
          <a:prstGeom prst="line">
            <a:avLst/>
          </a:prstGeom>
          <a:noFill/>
          <a:ln w="15875">
            <a:solidFill>
              <a:schemeClr val="accent3"/>
            </a:solidFill>
            <a:prstDash val="solid"/>
            <a:tailEnd type="triangle"/>
          </a:ln>
        </p:spPr>
      </p:sp>
      <p:sp>
        <p:nvSpPr>
          <p:cNvPr id="31" name="Text 29"/>
          <p:cNvSpPr txBox="1"/>
          <p:nvPr/>
        </p:nvSpPr>
        <p:spPr>
          <a:xfrm>
            <a:off x="548640" y="5074920"/>
            <a:ext cx="5486400" cy="274320"/>
          </a:xfrm>
          <a:prstGeom prst="rect">
            <a:avLst/>
          </a:prstGeom>
          <a:noFill/>
          <a:ln/>
        </p:spPr>
        <p:txBody>
          <a:bodyPr wrap="square" lIns="0" tIns="0" rIns="0" bIns="0" rtlCol="0" anchor="t"/>
          <a:lstStyle/>
          <a:p>
            <a:pPr indent="0" marL="0">
              <a:buNone/>
            </a:pPr>
            <a:r>
              <a:rPr lang="en-US" sz="1300" b="1" dirty="0">
                <a:solidFill>
                  <a:schemeClr val="accent3"/>
                </a:solidFill>
                <a:latin typeface="+mn-lt" pitchFamily="34" charset="0"/>
                <a:ea typeface="+mn-lt" pitchFamily="34" charset="-122"/>
                <a:cs typeface="+mn-lt" pitchFamily="34" charset="-120"/>
              </a:rPr>
              <a:t>Analyst workflow</a:t>
            </a:r>
            <a:endParaRPr lang="en-US" sz="1300" dirty="0"/>
          </a:p>
        </p:txBody>
      </p:sp>
      <p:sp>
        <p:nvSpPr>
          <p:cNvPr id="32" name="workflow-1"/>
          <p:cNvSpPr/>
          <p:nvPr/>
        </p:nvSpPr>
        <p:spPr>
          <a:xfrm>
            <a:off x="548640" y="5394960"/>
            <a:ext cx="2533574" cy="685800"/>
          </a:xfrm>
          <a:prstGeom prst="roundRect">
            <a:avLst>
              <a:gd name="adj" fmla="val 10667"/>
            </a:avLst>
          </a:prstGeom>
          <a:solidFill>
            <a:schemeClr val="bg1"/>
          </a:solidFill>
          <a:ln w="12700">
            <a:solidFill>
              <a:schemeClr val="accent3"/>
            </a:solidFill>
            <a:prstDash val="solid"/>
          </a:ln>
        </p:spPr>
      </p:sp>
      <p:sp>
        <p:nvSpPr>
          <p:cNvPr id="33" name="Text 31"/>
          <p:cNvSpPr txBox="1"/>
          <p:nvPr/>
        </p:nvSpPr>
        <p:spPr>
          <a:xfrm>
            <a:off x="658368" y="5440680"/>
            <a:ext cx="2314118" cy="621792"/>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1 Explore</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segments and trends over time</a:t>
            </a:r>
            <a:endParaRPr lang="en-US" sz="1400" dirty="0"/>
          </a:p>
        </p:txBody>
      </p:sp>
      <p:sp>
        <p:nvSpPr>
          <p:cNvPr id="34" name="workflow-arrow-1"/>
          <p:cNvSpPr/>
          <p:nvPr/>
        </p:nvSpPr>
        <p:spPr>
          <a:xfrm>
            <a:off x="3082214" y="5733288"/>
            <a:ext cx="320040" cy="914"/>
          </a:xfrm>
          <a:prstGeom prst="line">
            <a:avLst/>
          </a:prstGeom>
          <a:noFill/>
          <a:ln w="15875">
            <a:solidFill>
              <a:schemeClr val="accent3"/>
            </a:solidFill>
            <a:prstDash val="solid"/>
            <a:tailEnd type="triangle"/>
          </a:ln>
        </p:spPr>
      </p:sp>
      <p:sp>
        <p:nvSpPr>
          <p:cNvPr id="35" name="workflow-2"/>
          <p:cNvSpPr/>
          <p:nvPr/>
        </p:nvSpPr>
        <p:spPr>
          <a:xfrm>
            <a:off x="3402254" y="5394960"/>
            <a:ext cx="2533574" cy="685800"/>
          </a:xfrm>
          <a:prstGeom prst="roundRect">
            <a:avLst>
              <a:gd name="adj" fmla="val 10667"/>
            </a:avLst>
          </a:prstGeom>
          <a:solidFill>
            <a:schemeClr val="bg1"/>
          </a:solidFill>
          <a:ln w="12700">
            <a:solidFill>
              <a:schemeClr val="accent3"/>
            </a:solidFill>
            <a:prstDash val="solid"/>
          </a:ln>
        </p:spPr>
      </p:sp>
      <p:sp>
        <p:nvSpPr>
          <p:cNvPr id="36" name="Text 34"/>
          <p:cNvSpPr txBox="1"/>
          <p:nvPr/>
        </p:nvSpPr>
        <p:spPr>
          <a:xfrm>
            <a:off x="3511982" y="5440680"/>
            <a:ext cx="2314118" cy="621792"/>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2 Review a loan</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score and its top three reasons</a:t>
            </a:r>
            <a:endParaRPr lang="en-US" sz="1400" dirty="0"/>
          </a:p>
        </p:txBody>
      </p:sp>
      <p:sp>
        <p:nvSpPr>
          <p:cNvPr id="37" name="workflow-arrow-2"/>
          <p:cNvSpPr/>
          <p:nvPr/>
        </p:nvSpPr>
        <p:spPr>
          <a:xfrm>
            <a:off x="5935828" y="5733288"/>
            <a:ext cx="320040" cy="914"/>
          </a:xfrm>
          <a:prstGeom prst="line">
            <a:avLst/>
          </a:prstGeom>
          <a:noFill/>
          <a:ln w="15875">
            <a:solidFill>
              <a:schemeClr val="accent3"/>
            </a:solidFill>
            <a:prstDash val="solid"/>
            <a:tailEnd type="triangle"/>
          </a:ln>
        </p:spPr>
      </p:sp>
      <p:sp>
        <p:nvSpPr>
          <p:cNvPr id="38" name="workflow-3"/>
          <p:cNvSpPr/>
          <p:nvPr/>
        </p:nvSpPr>
        <p:spPr>
          <a:xfrm>
            <a:off x="6255868" y="5394960"/>
            <a:ext cx="2533574" cy="685800"/>
          </a:xfrm>
          <a:prstGeom prst="roundRect">
            <a:avLst>
              <a:gd name="adj" fmla="val 10667"/>
            </a:avLst>
          </a:prstGeom>
          <a:solidFill>
            <a:schemeClr val="bg1"/>
          </a:solidFill>
          <a:ln w="12700">
            <a:solidFill>
              <a:schemeClr val="accent3"/>
            </a:solidFill>
            <a:prstDash val="solid"/>
          </a:ln>
        </p:spPr>
      </p:sp>
      <p:sp>
        <p:nvSpPr>
          <p:cNvPr id="39" name="Text 37"/>
          <p:cNvSpPr txBox="1"/>
          <p:nvPr/>
        </p:nvSpPr>
        <p:spPr>
          <a:xfrm>
            <a:off x="6365596" y="5440680"/>
            <a:ext cx="2314118" cy="621792"/>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3 Ask a question</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answer with its filters and table</a:t>
            </a:r>
            <a:endParaRPr lang="en-US" sz="1400" dirty="0"/>
          </a:p>
        </p:txBody>
      </p:sp>
      <p:sp>
        <p:nvSpPr>
          <p:cNvPr id="40" name="workflow-arrow-3"/>
          <p:cNvSpPr/>
          <p:nvPr/>
        </p:nvSpPr>
        <p:spPr>
          <a:xfrm>
            <a:off x="8789441" y="5733288"/>
            <a:ext cx="320040" cy="914"/>
          </a:xfrm>
          <a:prstGeom prst="line">
            <a:avLst/>
          </a:prstGeom>
          <a:noFill/>
          <a:ln w="15875">
            <a:solidFill>
              <a:schemeClr val="accent3"/>
            </a:solidFill>
            <a:prstDash val="solid"/>
            <a:tailEnd type="triangle"/>
          </a:ln>
        </p:spPr>
      </p:sp>
      <p:sp>
        <p:nvSpPr>
          <p:cNvPr id="41" name="workflow-4"/>
          <p:cNvSpPr/>
          <p:nvPr/>
        </p:nvSpPr>
        <p:spPr>
          <a:xfrm>
            <a:off x="9109481" y="5394960"/>
            <a:ext cx="2533574" cy="685800"/>
          </a:xfrm>
          <a:prstGeom prst="roundRect">
            <a:avLst>
              <a:gd name="adj" fmla="val 10667"/>
            </a:avLst>
          </a:prstGeom>
          <a:solidFill>
            <a:schemeClr val="accent1"/>
          </a:solidFill>
          <a:ln w="12700">
            <a:solidFill>
              <a:schemeClr val="accent1"/>
            </a:solidFill>
            <a:prstDash val="solid"/>
          </a:ln>
        </p:spPr>
      </p:sp>
      <p:sp>
        <p:nvSpPr>
          <p:cNvPr id="42" name="Text 40"/>
          <p:cNvSpPr txBox="1"/>
          <p:nvPr/>
        </p:nvSpPr>
        <p:spPr>
          <a:xfrm>
            <a:off x="9219209" y="5440680"/>
            <a:ext cx="2314118" cy="621792"/>
          </a:xfrm>
          <a:prstGeom prst="rect">
            <a:avLst/>
          </a:prstGeom>
          <a:noFill/>
          <a:ln/>
        </p:spPr>
        <p:txBody>
          <a:bodyPr wrap="square" lIns="0" tIns="0" rIns="0" bIns="0" rtlCol="0" anchor="t"/>
          <a:lstStyle/>
          <a:p>
            <a:pPr indent="0" marL="0">
              <a:buNone/>
            </a:pPr>
            <a:r>
              <a:rPr lang="en-US" sz="1400" b="1" dirty="0">
                <a:solidFill>
                  <a:schemeClr val="bg1"/>
                </a:solidFill>
                <a:latin typeface="+mn-lt" pitchFamily="34" charset="0"/>
                <a:ea typeface="+mn-lt" pitchFamily="34" charset="-122"/>
                <a:cs typeface="+mn-lt" pitchFamily="34" charset="-120"/>
              </a:rPr>
              <a:t>4 Human decides</a:t>
            </a:r>
            <a:endParaRPr lang="en-US" sz="1400" dirty="0"/>
          </a:p>
          <a:p>
            <a:pPr indent="0" marL="0">
              <a:buNone/>
            </a:pPr>
            <a:r>
              <a:rPr lang="en-US" sz="1200" dirty="0">
                <a:solidFill>
                  <a:schemeClr val="bg1"/>
                </a:solidFill>
                <a:latin typeface="+mn-lt" pitchFamily="34" charset="0"/>
                <a:ea typeface="+mn-lt" pitchFamily="34" charset="-122"/>
                <a:cs typeface="+mn-lt" pitchFamily="34" charset="-120"/>
              </a:rPr>
              <a:t>a credit officer acts, never the model</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Half our lending sits in mortgages, the product that defaults most</a:t>
            </a:r>
            <a:endParaRPr lang="en-US" sz="3600" dirty="0"/>
          </a:p>
        </p:txBody>
      </p:sp>
      <p:sp>
        <p:nvSpPr>
          <p:cNvPr id="3" name="Text 1"/>
          <p:cNvSpPr txBox="1"/>
          <p:nvPr/>
        </p:nvSpPr>
        <p:spPr>
          <a:xfrm>
            <a:off x="548640" y="1600200"/>
            <a:ext cx="694944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Default rate by product</a:t>
            </a:r>
            <a:endParaRPr lang="en-US" sz="1800" dirty="0"/>
          </a:p>
        </p:txBody>
      </p:sp>
      <p:graphicFrame>
        <p:nvGraphicFramePr>
          <p:cNvPr id="4" name="chart-product-default" descr=""/>
          <p:cNvGraphicFramePr/>
          <p:nvPr/>
        </p:nvGraphicFramePr>
        <p:xfrm>
          <a:off x="548640" y="2011680"/>
          <a:ext cx="6949440" cy="3977640"/>
        </p:xfrm>
        <a:graphic xmlns:a="http://schemas.openxmlformats.org/drawingml/2006/main">
          <a:graphicData uri="http://schemas.openxmlformats.org/drawingml/2006/chart">
            <c:chart xmlns:c="http://schemas.openxmlformats.org/drawingml/2006/chart" r:id="rId1"/>
          </a:graphicData>
        </a:graphic>
      </p:graphicFrame>
      <p:sp>
        <p:nvSpPr>
          <p:cNvPr id="5" name="mortgage-callout"/>
          <p:cNvSpPr/>
          <p:nvPr/>
        </p:nvSpPr>
        <p:spPr>
          <a:xfrm>
            <a:off x="7818120" y="1600200"/>
            <a:ext cx="3822192" cy="4389120"/>
          </a:xfrm>
          <a:prstGeom prst="roundRect">
            <a:avLst>
              <a:gd name="adj" fmla="val 2392"/>
            </a:avLst>
          </a:prstGeom>
          <a:solidFill>
            <a:schemeClr val="bg2"/>
          </a:solidFill>
          <a:ln w="9525">
            <a:solidFill>
              <a:schemeClr val="bg2"/>
            </a:solidFill>
            <a:prstDash val="solid"/>
          </a:ln>
        </p:spPr>
      </p:sp>
      <p:sp>
        <p:nvSpPr>
          <p:cNvPr id="6" name="Text 3"/>
          <p:cNvSpPr txBox="1"/>
          <p:nvPr/>
        </p:nvSpPr>
        <p:spPr>
          <a:xfrm>
            <a:off x="8092440" y="1828800"/>
            <a:ext cx="3291840" cy="914400"/>
          </a:xfrm>
          <a:prstGeom prst="rect">
            <a:avLst/>
          </a:prstGeom>
          <a:noFill/>
          <a:ln/>
        </p:spPr>
        <p:txBody>
          <a:bodyPr wrap="square" lIns="0" tIns="0" rIns="0" bIns="0" rtlCol="0" anchor="t"/>
          <a:lstStyle/>
          <a:p>
            <a:pPr indent="0" marL="0">
              <a:buNone/>
            </a:pPr>
            <a:r>
              <a:rPr lang="en-US" sz="5400" b="1" dirty="0">
                <a:solidFill>
                  <a:schemeClr val="accent2"/>
                </a:solidFill>
                <a:latin typeface="+mj-lt" pitchFamily="34" charset="0"/>
                <a:ea typeface="+mj-lt" pitchFamily="34" charset="-122"/>
                <a:cs typeface="+mj-lt" pitchFamily="34" charset="-120"/>
              </a:rPr>
              <a:t>52.3%</a:t>
            </a:r>
            <a:endParaRPr lang="en-US" sz="5400" dirty="0"/>
          </a:p>
        </p:txBody>
      </p:sp>
      <p:sp>
        <p:nvSpPr>
          <p:cNvPr id="7" name="Text 4"/>
          <p:cNvSpPr txBox="1"/>
          <p:nvPr/>
        </p:nvSpPr>
        <p:spPr>
          <a:xfrm>
            <a:off x="8092440" y="2743200"/>
            <a:ext cx="3291840" cy="365760"/>
          </a:xfrm>
          <a:prstGeom prst="rect">
            <a:avLst/>
          </a:prstGeom>
          <a:noFill/>
          <a:ln/>
        </p:spPr>
        <p:txBody>
          <a:bodyPr wrap="square" lIns="0" tIns="0" rIns="0" bIns="0" rtlCol="0" anchor="t"/>
          <a:lstStyle/>
          <a:p>
            <a:pPr indent="0" marL="0">
              <a:buNone/>
            </a:pPr>
            <a:r>
              <a:rPr lang="en-US" sz="1700" b="1" dirty="0">
                <a:solidFill>
                  <a:schemeClr val="tx1"/>
                </a:solidFill>
                <a:latin typeface="+mn-lt" pitchFamily="34" charset="0"/>
                <a:ea typeface="+mn-lt" pitchFamily="34" charset="-122"/>
                <a:cs typeface="+mn-lt" pitchFamily="34" charset="-120"/>
              </a:rPr>
              <a:t>of all lending is in mortgages</a:t>
            </a:r>
            <a:endParaRPr lang="en-US" sz="1700" dirty="0"/>
          </a:p>
        </p:txBody>
      </p:sp>
      <p:sp>
        <p:nvSpPr>
          <p:cNvPr id="8" name="Text 5"/>
          <p:cNvSpPr txBox="1"/>
          <p:nvPr/>
        </p:nvSpPr>
        <p:spPr>
          <a:xfrm>
            <a:off x="8092440" y="3154680"/>
            <a:ext cx="3291840" cy="822960"/>
          </a:xfrm>
          <a:prstGeom prst="rect">
            <a:avLst/>
          </a:prstGeom>
          <a:noFill/>
          <a:ln/>
        </p:spPr>
        <p:txBody>
          <a:bodyPr wrap="square" lIns="0" tIns="0" rIns="0" bIns="0" rtlCol="0" anchor="t"/>
          <a:lstStyle/>
          <a:p>
            <a:pPr indent="0" marL="0">
              <a:buNone/>
            </a:pPr>
            <a:r>
              <a:rPr lang="en-US" sz="1400" dirty="0">
                <a:solidFill>
                  <a:schemeClr val="accent3"/>
                </a:solidFill>
                <a:latin typeface="+mn-lt" pitchFamily="34" charset="0"/>
                <a:ea typeface="+mn-lt" pitchFamily="34" charset="-122"/>
                <a:cs typeface="+mn-lt" pitchFamily="34" charset="-120"/>
              </a:rPr>
              <a:t>9.8% of loans  ·  1,432 loans  ·  1.5x the 16.1% portfolio default rate</a:t>
            </a:r>
            <a:endParaRPr lang="en-US" sz="1400" dirty="0"/>
          </a:p>
        </p:txBody>
      </p:sp>
      <p:sp>
        <p:nvSpPr>
          <p:cNvPr id="9" name="Text 6"/>
          <p:cNvSpPr txBox="1"/>
          <p:nvPr/>
        </p:nvSpPr>
        <p:spPr>
          <a:xfrm>
            <a:off x="8092440" y="4114800"/>
            <a:ext cx="3291840"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What to do</a:t>
            </a:r>
            <a:endParaRPr lang="en-US" sz="1700" dirty="0"/>
          </a:p>
        </p:txBody>
      </p:sp>
      <p:sp>
        <p:nvSpPr>
          <p:cNvPr id="10" name="Text 7"/>
          <p:cNvSpPr txBox="1"/>
          <p:nvPr/>
        </p:nvSpPr>
        <p:spPr>
          <a:xfrm>
            <a:off x="8092440" y="4526280"/>
            <a:ext cx="3291840" cy="914400"/>
          </a:xfrm>
          <a:prstGeom prst="rect">
            <a:avLst/>
          </a:prstGeom>
          <a:noFill/>
          <a:ln/>
        </p:spPr>
        <p:txBody>
          <a:bodyPr wrap="square" lIns="0" tIns="0" rIns="0" bIns="0" rtlCol="0" anchor="t"/>
          <a:lstStyle/>
          <a:p>
            <a:pPr indent="0" marL="0">
              <a:buNone/>
            </a:pPr>
            <a:r>
              <a:rPr lang="en-US" sz="1500" dirty="0">
                <a:solidFill>
                  <a:schemeClr val="tx1"/>
                </a:solidFill>
                <a:latin typeface="+mn-lt" pitchFamily="34" charset="0"/>
                <a:ea typeface="+mn-lt" pitchFamily="34" charset="-122"/>
                <a:cs typeface="+mn-lt" pitchFamily="34" charset="-120"/>
              </a:rPr>
              <a:t>Review mortgage affordability rules and concentration limits first.</a:t>
            </a:r>
            <a:endParaRPr lang="en-US" sz="1500" dirty="0"/>
          </a:p>
        </p:txBody>
      </p:sp>
      <p:sp>
        <p:nvSpPr>
          <p:cNvPr id="11" name="Text 8"/>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00" dirty="0">
                <a:solidFill>
                  <a:schemeClr val="accent3"/>
                </a:solidFill>
                <a:latin typeface="+mn-lt" pitchFamily="34" charset="0"/>
                <a:ea typeface="+mn-lt" pitchFamily="34" charset="-122"/>
                <a:cs typeface="+mn-lt" pitchFamily="34" charset="-120"/>
              </a:rPr>
              <a:t>Source: reports/analytics/product.csv. Default rate = defaulted loans / loans in each product.</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Low income and past write-offs mark the riskiest borrowers</a:t>
            </a:r>
            <a:endParaRPr lang="en-US" sz="3600" dirty="0"/>
          </a:p>
        </p:txBody>
      </p:sp>
      <p:sp>
        <p:nvSpPr>
          <p:cNvPr id="3" name="Text 1"/>
          <p:cNvSpPr txBox="1"/>
          <p:nvPr/>
        </p:nvSpPr>
        <p:spPr>
          <a:xfrm>
            <a:off x="548640" y="1554480"/>
            <a:ext cx="530352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Default rate by annual income</a:t>
            </a:r>
            <a:endParaRPr lang="en-US" sz="1800" dirty="0"/>
          </a:p>
        </p:txBody>
      </p:sp>
      <p:graphicFrame>
        <p:nvGraphicFramePr>
          <p:cNvPr id="4" name="chart-income-default" descr=""/>
          <p:cNvGraphicFramePr/>
          <p:nvPr/>
        </p:nvGraphicFramePr>
        <p:xfrm>
          <a:off x="548640" y="1965960"/>
          <a:ext cx="5303520" cy="3337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336792" y="1554480"/>
            <a:ext cx="530352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Default rate by debts written off at other lenders</a:t>
            </a:r>
            <a:endParaRPr lang="en-US" sz="1800" dirty="0"/>
          </a:p>
        </p:txBody>
      </p:sp>
      <p:graphicFrame>
        <p:nvGraphicFramePr>
          <p:cNvPr id="6" name="chart-writeoff-default" descr=""/>
          <p:cNvGraphicFramePr/>
          <p:nvPr/>
        </p:nvGraphicFramePr>
        <p:xfrm>
          <a:off x="6336792" y="1965960"/>
          <a:ext cx="5303520" cy="3337560"/>
        </p:xfrm>
        <a:graphic xmlns:a="http://schemas.openxmlformats.org/drawingml/2006/main">
          <a:graphicData uri="http://schemas.openxmlformats.org/drawingml/2006/chart">
            <c:chart xmlns:c="http://schemas.openxmlformats.org/drawingml/2006/chart" r:id="rId2"/>
          </a:graphicData>
        </a:graphic>
      </p:graphicFrame>
      <p:sp>
        <p:nvSpPr>
          <p:cNvPr id="7" name="combined-risk"/>
          <p:cNvSpPr/>
          <p:nvPr/>
        </p:nvSpPr>
        <p:spPr>
          <a:xfrm>
            <a:off x="548640" y="5440680"/>
            <a:ext cx="11094415" cy="640080"/>
          </a:xfrm>
          <a:prstGeom prst="roundRect">
            <a:avLst>
              <a:gd name="adj" fmla="val 14286"/>
            </a:avLst>
          </a:prstGeom>
          <a:solidFill>
            <a:schemeClr val="bg2"/>
          </a:solidFill>
          <a:ln w="9525">
            <a:solidFill>
              <a:schemeClr val="bg2"/>
            </a:solidFill>
            <a:prstDash val="solid"/>
          </a:ln>
        </p:spPr>
      </p:sp>
      <p:sp>
        <p:nvSpPr>
          <p:cNvPr id="8" name="Text 4"/>
          <p:cNvSpPr txBox="1"/>
          <p:nvPr/>
        </p:nvSpPr>
        <p:spPr>
          <a:xfrm>
            <a:off x="777240" y="5532120"/>
            <a:ext cx="10637215" cy="457200"/>
          </a:xfrm>
          <a:prstGeom prst="rect">
            <a:avLst/>
          </a:prstGeom>
          <a:noFill/>
          <a:ln/>
        </p:spPr>
        <p:txBody>
          <a:bodyPr wrap="square" lIns="0" tIns="0" rIns="0" bIns="0" rtlCol="0" anchor="ctr"/>
          <a:lstStyle/>
          <a:p>
            <a:pPr indent="0" marL="0">
              <a:buNone/>
            </a:pPr>
            <a:r>
              <a:rPr lang="en-US" sz="1400" b="1" dirty="0">
                <a:solidFill>
                  <a:schemeClr val="tx1"/>
                </a:solidFill>
                <a:latin typeface="+mn-lt" pitchFamily="34" charset="0"/>
                <a:ea typeface="+mn-lt" pitchFamily="34" charset="-122"/>
                <a:cs typeface="+mn-lt" pitchFamily="34" charset="-120"/>
              </a:rPr>
              <a:t>Combined risk: </a:t>
            </a:r>
            <a:pPr indent="0" marL="0">
              <a:buNone/>
            </a:pPr>
            <a:r>
              <a:rPr lang="en-US" sz="1400" dirty="0">
                <a:solidFill>
                  <a:schemeClr val="tx1"/>
                </a:solidFill>
                <a:latin typeface="+mn-lt" pitchFamily="34" charset="0"/>
                <a:ea typeface="+mn-lt" pitchFamily="34" charset="-122"/>
                <a:cs typeface="+mn-lt" pitchFamily="34" charset="-120"/>
              </a:rPr>
              <a:t>unemployed customers earning under $60k default at 37.8% (547 loans). Route this segment to manual review.</a:t>
            </a:r>
            <a:endParaRPr lang="en-US" sz="1400" dirty="0"/>
          </a:p>
        </p:txBody>
      </p:sp>
      <p:sp>
        <p:nvSpPr>
          <p:cNvPr id="9" name="Text 5"/>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00" dirty="0">
                <a:solidFill>
                  <a:schemeClr val="accent3"/>
                </a:solidFill>
                <a:latin typeface="+mn-lt" pitchFamily="34" charset="0"/>
                <a:ea typeface="+mn-lt" pitchFamily="34" charset="-122"/>
                <a:cs typeface="+mn-lt" pitchFamily="34" charset="-120"/>
              </a:rPr>
              <a:t>Sources: reports/analytics/income.csv, write_offs.csv. Income bands in USD; customers without a bureau record shown separately.</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No deterioration in default rates over six years</a:t>
            </a:r>
            <a:endParaRPr lang="en-US" sz="3600" dirty="0"/>
          </a:p>
        </p:txBody>
      </p:sp>
      <p:sp>
        <p:nvSpPr>
          <p:cNvPr id="3" name="Text 1"/>
          <p:cNvSpPr txBox="1"/>
          <p:nvPr/>
        </p:nvSpPr>
        <p:spPr>
          <a:xfrm>
            <a:off x="548640" y="1554480"/>
            <a:ext cx="758952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Default rate by origination quarter, with control limits</a:t>
            </a:r>
            <a:endParaRPr lang="en-US" sz="1800" dirty="0"/>
          </a:p>
        </p:txBody>
      </p:sp>
      <p:graphicFrame>
        <p:nvGraphicFramePr>
          <p:cNvPr id="4" name="chart-vintage-control" descr=""/>
          <p:cNvGraphicFramePr/>
          <p:nvPr/>
        </p:nvGraphicFramePr>
        <p:xfrm>
          <a:off x="548640" y="1965960"/>
          <a:ext cx="7589520" cy="4023360"/>
        </p:xfrm>
        <a:graphic xmlns:a="http://schemas.openxmlformats.org/drawingml/2006/main">
          <a:graphicData uri="http://schemas.openxmlformats.org/drawingml/2006/chart">
            <c:chart xmlns:c="http://schemas.openxmlformats.org/drawingml/2006/chart" r:id="rId1"/>
          </a:graphicData>
        </a:graphic>
      </p:graphicFrame>
      <p:sp>
        <p:nvSpPr>
          <p:cNvPr id="5" name="trend-stat-1"/>
          <p:cNvSpPr/>
          <p:nvPr/>
        </p:nvSpPr>
        <p:spPr>
          <a:xfrm>
            <a:off x="8412480" y="1600200"/>
            <a:ext cx="3227832" cy="1325880"/>
          </a:xfrm>
          <a:prstGeom prst="roundRect">
            <a:avLst>
              <a:gd name="adj" fmla="val 6897"/>
            </a:avLst>
          </a:prstGeom>
          <a:solidFill>
            <a:schemeClr val="bg2"/>
          </a:solidFill>
          <a:ln w="9525">
            <a:solidFill>
              <a:schemeClr val="bg2"/>
            </a:solidFill>
            <a:prstDash val="solid"/>
          </a:ln>
        </p:spPr>
      </p:sp>
      <p:sp>
        <p:nvSpPr>
          <p:cNvPr id="6" name="Text 3"/>
          <p:cNvSpPr txBox="1"/>
          <p:nvPr/>
        </p:nvSpPr>
        <p:spPr>
          <a:xfrm>
            <a:off x="8613648" y="1709928"/>
            <a:ext cx="2834640"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-0.08 pp</a:t>
            </a:r>
            <a:endParaRPr lang="en-US" sz="2600" dirty="0"/>
          </a:p>
        </p:txBody>
      </p:sp>
      <p:sp>
        <p:nvSpPr>
          <p:cNvPr id="7" name="Text 4"/>
          <p:cNvSpPr txBox="1"/>
          <p:nvPr/>
        </p:nvSpPr>
        <p:spPr>
          <a:xfrm>
            <a:off x="8613648" y="2221992"/>
            <a:ext cx="2834640" cy="658368"/>
          </a:xfrm>
          <a:prstGeom prst="rect">
            <a:avLst/>
          </a:prstGeom>
          <a:noFill/>
          <a:ln/>
        </p:spPr>
        <p:txBody>
          <a:bodyPr wrap="square" lIns="0" tIns="0" rIns="0" bIns="0" rtlCol="0" anchor="t"/>
          <a:lstStyle/>
          <a:p>
            <a:pPr indent="0" marL="0">
              <a:buNone/>
            </a:pPr>
            <a:r>
              <a:rPr lang="en-US" sz="1300" dirty="0">
                <a:solidFill>
                  <a:schemeClr val="tx1"/>
                </a:solidFill>
                <a:latin typeface="+mn-lt" pitchFamily="34" charset="0"/>
                <a:ea typeface="+mn-lt" pitchFamily="34" charset="-122"/>
                <a:cs typeface="+mn-lt" pitchFamily="34" charset="-120"/>
              </a:rPr>
              <a:t>trend per year; p = 0.69, not significant</a:t>
            </a:r>
            <a:endParaRPr lang="en-US" sz="1300" dirty="0"/>
          </a:p>
        </p:txBody>
      </p:sp>
      <p:sp>
        <p:nvSpPr>
          <p:cNvPr id="8" name="trend-stat-2"/>
          <p:cNvSpPr/>
          <p:nvPr/>
        </p:nvSpPr>
        <p:spPr>
          <a:xfrm>
            <a:off x="8412480" y="3081528"/>
            <a:ext cx="3227832" cy="1325880"/>
          </a:xfrm>
          <a:prstGeom prst="roundRect">
            <a:avLst>
              <a:gd name="adj" fmla="val 6897"/>
            </a:avLst>
          </a:prstGeom>
          <a:solidFill>
            <a:schemeClr val="bg2"/>
          </a:solidFill>
          <a:ln w="9525">
            <a:solidFill>
              <a:schemeClr val="bg2"/>
            </a:solidFill>
            <a:prstDash val="solid"/>
          </a:ln>
        </p:spPr>
      </p:sp>
      <p:sp>
        <p:nvSpPr>
          <p:cNvPr id="9" name="Text 6"/>
          <p:cNvSpPr txBox="1"/>
          <p:nvPr/>
        </p:nvSpPr>
        <p:spPr>
          <a:xfrm>
            <a:off x="8613648" y="3191256"/>
            <a:ext cx="2834640"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2 of 24</a:t>
            </a:r>
            <a:endParaRPr lang="en-US" sz="2600" dirty="0"/>
          </a:p>
        </p:txBody>
      </p:sp>
      <p:sp>
        <p:nvSpPr>
          <p:cNvPr id="10" name="Text 7"/>
          <p:cNvSpPr txBox="1"/>
          <p:nvPr/>
        </p:nvSpPr>
        <p:spPr>
          <a:xfrm>
            <a:off x="8613648" y="3703320"/>
            <a:ext cx="2834640" cy="658368"/>
          </a:xfrm>
          <a:prstGeom prst="rect">
            <a:avLst/>
          </a:prstGeom>
          <a:noFill/>
          <a:ln/>
        </p:spPr>
        <p:txBody>
          <a:bodyPr wrap="square" lIns="0" tIns="0" rIns="0" bIns="0" rtlCol="0" anchor="t"/>
          <a:lstStyle/>
          <a:p>
            <a:pPr indent="0" marL="0">
              <a:buNone/>
            </a:pPr>
            <a:r>
              <a:rPr lang="en-US" sz="1300" dirty="0">
                <a:solidFill>
                  <a:schemeClr val="tx1"/>
                </a:solidFill>
                <a:latin typeface="+mn-lt" pitchFamily="34" charset="0"/>
                <a:ea typeface="+mn-lt" pitchFamily="34" charset="-122"/>
                <a:cs typeface="+mn-lt" pitchFamily="34" charset="-120"/>
              </a:rPr>
              <a:t>quarters outside the band (2018 Q1, 2022 Q2); about 1 is expected by chance</a:t>
            </a:r>
            <a:endParaRPr lang="en-US" sz="1300" dirty="0"/>
          </a:p>
        </p:txBody>
      </p:sp>
      <p:sp>
        <p:nvSpPr>
          <p:cNvPr id="11" name="trend-stat-3"/>
          <p:cNvSpPr/>
          <p:nvPr/>
        </p:nvSpPr>
        <p:spPr>
          <a:xfrm>
            <a:off x="8412480" y="4562856"/>
            <a:ext cx="3227832" cy="1325880"/>
          </a:xfrm>
          <a:prstGeom prst="roundRect">
            <a:avLst>
              <a:gd name="adj" fmla="val 6897"/>
            </a:avLst>
          </a:prstGeom>
          <a:solidFill>
            <a:schemeClr val="bg2"/>
          </a:solidFill>
          <a:ln w="9525">
            <a:solidFill>
              <a:schemeClr val="bg2"/>
            </a:solidFill>
            <a:prstDash val="solid"/>
          </a:ln>
        </p:spPr>
      </p:sp>
      <p:sp>
        <p:nvSpPr>
          <p:cNvPr id="12" name="Text 9"/>
          <p:cNvSpPr txBox="1"/>
          <p:nvPr/>
        </p:nvSpPr>
        <p:spPr>
          <a:xfrm>
            <a:off x="8613648" y="4672584"/>
            <a:ext cx="2834640"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6.4% vs 4.3%</a:t>
            </a:r>
            <a:endParaRPr lang="en-US" sz="2600" dirty="0"/>
          </a:p>
        </p:txBody>
      </p:sp>
      <p:sp>
        <p:nvSpPr>
          <p:cNvPr id="13" name="Text 10"/>
          <p:cNvSpPr txBox="1"/>
          <p:nvPr/>
        </p:nvSpPr>
        <p:spPr>
          <a:xfrm>
            <a:off x="8613648" y="5184648"/>
            <a:ext cx="2834640" cy="658368"/>
          </a:xfrm>
          <a:prstGeom prst="rect">
            <a:avLst/>
          </a:prstGeom>
          <a:noFill/>
          <a:ln/>
        </p:spPr>
        <p:txBody>
          <a:bodyPr wrap="square" lIns="0" tIns="0" rIns="0" bIns="0" rtlCol="0" anchor="t"/>
          <a:lstStyle/>
          <a:p>
            <a:pPr indent="0" marL="0">
              <a:buNone/>
            </a:pPr>
            <a:r>
              <a:rPr lang="en-US" sz="1300" dirty="0">
                <a:solidFill>
                  <a:schemeClr val="tx1"/>
                </a:solidFill>
                <a:latin typeface="+mn-lt" pitchFamily="34" charset="0"/>
                <a:ea typeface="+mn-lt" pitchFamily="34" charset="-122"/>
                <a:cs typeface="+mn-lt" pitchFamily="34" charset="-120"/>
              </a:rPr>
              <a:t>loans that later default are 30+ days late from month 1: an early warning</a:t>
            </a:r>
            <a:endParaRPr lang="en-US" sz="1300" dirty="0"/>
          </a:p>
        </p:txBody>
      </p:sp>
      <p:sp>
        <p:nvSpPr>
          <p:cNvPr id="14" name="Text 11"/>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00" dirty="0">
                <a:solidFill>
                  <a:schemeClr val="accent3"/>
                </a:solidFill>
                <a:latin typeface="+mn-lt" pitchFamily="34" charset="0"/>
                <a:ea typeface="+mn-lt" pitchFamily="34" charset="-122"/>
                <a:cs typeface="+mn-lt" pitchFamily="34" charset="-120"/>
              </a:rPr>
              <a:t>Sources: reports/analytics/vintage_quarterly.csv, seasoning.csv. Band = portfolio rate +/- 2 standard errors for each quarter's size.</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Bureau and repayment history make the score useful: test AUC 0.68</a:t>
            </a:r>
            <a:endParaRPr lang="en-US" sz="3600" dirty="0"/>
          </a:p>
        </p:txBody>
      </p:sp>
      <p:sp>
        <p:nvSpPr>
          <p:cNvPr id="3" name="Text 1"/>
          <p:cNvSpPr txBox="1"/>
          <p:nvPr/>
        </p:nvSpPr>
        <p:spPr>
          <a:xfrm>
            <a:off x="548640" y="1554480"/>
            <a:ext cx="667512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Test AUC by model (held-out customers)</a:t>
            </a:r>
            <a:endParaRPr lang="en-US" sz="1800" dirty="0"/>
          </a:p>
        </p:txBody>
      </p:sp>
      <p:graphicFrame>
        <p:nvGraphicFramePr>
          <p:cNvPr id="4" name="chart-model-auc" descr=""/>
          <p:cNvGraphicFramePr/>
          <p:nvPr/>
        </p:nvGraphicFramePr>
        <p:xfrm>
          <a:off x="548640" y="1965960"/>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577840"/>
            <a:ext cx="6675120" cy="457200"/>
          </a:xfrm>
          <a:prstGeom prst="rect">
            <a:avLst/>
          </a:prstGeom>
          <a:noFill/>
          <a:ln/>
        </p:spPr>
        <p:txBody>
          <a:bodyPr wrap="square" lIns="0" tIns="0" rIns="0" bIns="0" rtlCol="0" anchor="t"/>
          <a:lstStyle/>
          <a:p>
            <a:pPr indent="0" marL="0">
              <a:buNone/>
            </a:pPr>
            <a:r>
              <a:rPr lang="en-US" sz="1200" dirty="0">
                <a:solidFill>
                  <a:schemeClr val="accent3"/>
                </a:solidFill>
                <a:latin typeface="+mn-lt" pitchFamily="34" charset="0"/>
                <a:ea typeface="+mn-lt" pitchFamily="34" charset="-122"/>
                <a:cs typeface="+mn-lt" pitchFamily="34" charset="-120"/>
              </a:rPr>
              <a:t>Teal = model selected on validation data before the test. The axis starts at 0.5, the score of a random guess.</a:t>
            </a:r>
            <a:endParaRPr lang="en-US" sz="1200" dirty="0"/>
          </a:p>
        </p:txBody>
      </p:sp>
      <p:sp>
        <p:nvSpPr>
          <p:cNvPr id="6" name="metric-AUC"/>
          <p:cNvSpPr/>
          <p:nvPr/>
        </p:nvSpPr>
        <p:spPr>
          <a:xfrm>
            <a:off x="7589520" y="1600200"/>
            <a:ext cx="4050792" cy="960120"/>
          </a:xfrm>
          <a:prstGeom prst="roundRect">
            <a:avLst>
              <a:gd name="adj" fmla="val 9524"/>
            </a:avLst>
          </a:prstGeom>
          <a:solidFill>
            <a:schemeClr val="bg2"/>
          </a:solidFill>
          <a:ln w="9525">
            <a:solidFill>
              <a:schemeClr val="bg2"/>
            </a:solidFill>
            <a:prstDash val="solid"/>
          </a:ln>
        </p:spPr>
      </p:sp>
      <p:sp>
        <p:nvSpPr>
          <p:cNvPr id="7" name="Text 4"/>
          <p:cNvSpPr txBox="1"/>
          <p:nvPr/>
        </p:nvSpPr>
        <p:spPr>
          <a:xfrm>
            <a:off x="7772400" y="1709928"/>
            <a:ext cx="822960" cy="365760"/>
          </a:xfrm>
          <a:prstGeom prst="rect">
            <a:avLst/>
          </a:prstGeom>
          <a:noFill/>
          <a:ln/>
        </p:spPr>
        <p:txBody>
          <a:bodyPr wrap="square" lIns="0" tIns="0" rIns="0" bIns="0" rtlCol="0" anchor="t"/>
          <a:lstStyle/>
          <a:p>
            <a:pPr indent="0" marL="0">
              <a:buNone/>
            </a:pPr>
            <a:r>
              <a:rPr lang="en-US" sz="1400" b="1" dirty="0">
                <a:solidFill>
                  <a:schemeClr val="accent3"/>
                </a:solidFill>
                <a:latin typeface="+mn-lt" pitchFamily="34" charset="0"/>
                <a:ea typeface="+mn-lt" pitchFamily="34" charset="-122"/>
                <a:cs typeface="+mn-lt" pitchFamily="34" charset="-120"/>
              </a:rPr>
              <a:t>AUC</a:t>
            </a:r>
            <a:endParaRPr lang="en-US" sz="1400" dirty="0"/>
          </a:p>
        </p:txBody>
      </p:sp>
      <p:sp>
        <p:nvSpPr>
          <p:cNvPr id="8" name="Text 5"/>
          <p:cNvSpPr txBox="1"/>
          <p:nvPr/>
        </p:nvSpPr>
        <p:spPr>
          <a:xfrm>
            <a:off x="7772400" y="2011680"/>
            <a:ext cx="1188720" cy="45720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0.677</a:t>
            </a:r>
            <a:endParaRPr lang="en-US" sz="2600" dirty="0"/>
          </a:p>
        </p:txBody>
      </p:sp>
      <p:sp>
        <p:nvSpPr>
          <p:cNvPr id="9" name="Text 6"/>
          <p:cNvSpPr txBox="1"/>
          <p:nvPr/>
        </p:nvSpPr>
        <p:spPr>
          <a:xfrm>
            <a:off x="9052560" y="1755648"/>
            <a:ext cx="2423160" cy="731520"/>
          </a:xfrm>
          <a:prstGeom prst="rect">
            <a:avLst/>
          </a:prstGeom>
          <a:noFill/>
          <a:ln/>
        </p:spPr>
        <p:txBody>
          <a:bodyPr wrap="square" lIns="0" tIns="0" rIns="0" bIns="0" rtlCol="0" anchor="ctr"/>
          <a:lstStyle/>
          <a:p>
            <a:pPr indent="0" marL="0">
              <a:buNone/>
            </a:pPr>
            <a:r>
              <a:rPr lang="en-US" sz="1300" dirty="0">
                <a:solidFill>
                  <a:schemeClr val="tx1"/>
                </a:solidFill>
                <a:latin typeface="+mn-lt" pitchFamily="34" charset="0"/>
                <a:ea typeface="+mn-lt" pitchFamily="34" charset="-122"/>
                <a:cs typeface="+mn-lt" pitchFamily="34" charset="-120"/>
              </a:rPr>
              <a:t>ranks a defaulted loan above a performing one 68% of the time</a:t>
            </a:r>
            <a:endParaRPr lang="en-US" sz="1300" dirty="0"/>
          </a:p>
        </p:txBody>
      </p:sp>
      <p:sp>
        <p:nvSpPr>
          <p:cNvPr id="10" name="metric-Gini"/>
          <p:cNvSpPr/>
          <p:nvPr/>
        </p:nvSpPr>
        <p:spPr>
          <a:xfrm>
            <a:off x="7589520" y="2679192"/>
            <a:ext cx="4050792" cy="960120"/>
          </a:xfrm>
          <a:prstGeom prst="roundRect">
            <a:avLst>
              <a:gd name="adj" fmla="val 9524"/>
            </a:avLst>
          </a:prstGeom>
          <a:solidFill>
            <a:schemeClr val="bg2"/>
          </a:solidFill>
          <a:ln w="9525">
            <a:solidFill>
              <a:schemeClr val="bg2"/>
            </a:solidFill>
            <a:prstDash val="solid"/>
          </a:ln>
        </p:spPr>
      </p:sp>
      <p:sp>
        <p:nvSpPr>
          <p:cNvPr id="11" name="Text 8"/>
          <p:cNvSpPr txBox="1"/>
          <p:nvPr/>
        </p:nvSpPr>
        <p:spPr>
          <a:xfrm>
            <a:off x="7772400" y="2788920"/>
            <a:ext cx="822960" cy="365760"/>
          </a:xfrm>
          <a:prstGeom prst="rect">
            <a:avLst/>
          </a:prstGeom>
          <a:noFill/>
          <a:ln/>
        </p:spPr>
        <p:txBody>
          <a:bodyPr wrap="square" lIns="0" tIns="0" rIns="0" bIns="0" rtlCol="0" anchor="t"/>
          <a:lstStyle/>
          <a:p>
            <a:pPr indent="0" marL="0">
              <a:buNone/>
            </a:pPr>
            <a:r>
              <a:rPr lang="en-US" sz="1400" b="1" dirty="0">
                <a:solidFill>
                  <a:schemeClr val="accent3"/>
                </a:solidFill>
                <a:latin typeface="+mn-lt" pitchFamily="34" charset="0"/>
                <a:ea typeface="+mn-lt" pitchFamily="34" charset="-122"/>
                <a:cs typeface="+mn-lt" pitchFamily="34" charset="-120"/>
              </a:rPr>
              <a:t>Gini</a:t>
            </a:r>
            <a:endParaRPr lang="en-US" sz="1400" dirty="0"/>
          </a:p>
        </p:txBody>
      </p:sp>
      <p:sp>
        <p:nvSpPr>
          <p:cNvPr id="12" name="Text 9"/>
          <p:cNvSpPr txBox="1"/>
          <p:nvPr/>
        </p:nvSpPr>
        <p:spPr>
          <a:xfrm>
            <a:off x="7772400" y="3090672"/>
            <a:ext cx="1188720" cy="45720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0.354</a:t>
            </a:r>
            <a:endParaRPr lang="en-US" sz="2600" dirty="0"/>
          </a:p>
        </p:txBody>
      </p:sp>
      <p:sp>
        <p:nvSpPr>
          <p:cNvPr id="13" name="Text 10"/>
          <p:cNvSpPr txBox="1"/>
          <p:nvPr/>
        </p:nvSpPr>
        <p:spPr>
          <a:xfrm>
            <a:off x="9052560" y="2834640"/>
            <a:ext cx="2423160" cy="731520"/>
          </a:xfrm>
          <a:prstGeom prst="rect">
            <a:avLst/>
          </a:prstGeom>
          <a:noFill/>
          <a:ln/>
        </p:spPr>
        <p:txBody>
          <a:bodyPr wrap="square" lIns="0" tIns="0" rIns="0" bIns="0" rtlCol="0" anchor="ctr"/>
          <a:lstStyle/>
          <a:p>
            <a:pPr indent="0" marL="0">
              <a:buNone/>
            </a:pPr>
            <a:r>
              <a:rPr lang="en-US" sz="1300" dirty="0">
                <a:solidFill>
                  <a:schemeClr val="tx1"/>
                </a:solidFill>
                <a:latin typeface="+mn-lt" pitchFamily="34" charset="0"/>
                <a:ea typeface="+mn-lt" pitchFamily="34" charset="-122"/>
                <a:cs typeface="+mn-lt" pitchFamily="34" charset="-120"/>
              </a:rPr>
              <a:t>2 x AUC - 1; the banking-standard view of the same ranking</a:t>
            </a:r>
            <a:endParaRPr lang="en-US" sz="1300" dirty="0"/>
          </a:p>
        </p:txBody>
      </p:sp>
      <p:sp>
        <p:nvSpPr>
          <p:cNvPr id="14" name="metric-KS"/>
          <p:cNvSpPr/>
          <p:nvPr/>
        </p:nvSpPr>
        <p:spPr>
          <a:xfrm>
            <a:off x="7589520" y="3758184"/>
            <a:ext cx="4050792" cy="960120"/>
          </a:xfrm>
          <a:prstGeom prst="roundRect">
            <a:avLst>
              <a:gd name="adj" fmla="val 9524"/>
            </a:avLst>
          </a:prstGeom>
          <a:solidFill>
            <a:schemeClr val="bg2"/>
          </a:solidFill>
          <a:ln w="9525">
            <a:solidFill>
              <a:schemeClr val="bg2"/>
            </a:solidFill>
            <a:prstDash val="solid"/>
          </a:ln>
        </p:spPr>
      </p:sp>
      <p:sp>
        <p:nvSpPr>
          <p:cNvPr id="15" name="Text 12"/>
          <p:cNvSpPr txBox="1"/>
          <p:nvPr/>
        </p:nvSpPr>
        <p:spPr>
          <a:xfrm>
            <a:off x="7772400" y="3867912"/>
            <a:ext cx="822960" cy="365760"/>
          </a:xfrm>
          <a:prstGeom prst="rect">
            <a:avLst/>
          </a:prstGeom>
          <a:noFill/>
          <a:ln/>
        </p:spPr>
        <p:txBody>
          <a:bodyPr wrap="square" lIns="0" tIns="0" rIns="0" bIns="0" rtlCol="0" anchor="t"/>
          <a:lstStyle/>
          <a:p>
            <a:pPr indent="0" marL="0">
              <a:buNone/>
            </a:pPr>
            <a:r>
              <a:rPr lang="en-US" sz="1400" b="1" dirty="0">
                <a:solidFill>
                  <a:schemeClr val="accent3"/>
                </a:solidFill>
                <a:latin typeface="+mn-lt" pitchFamily="34" charset="0"/>
                <a:ea typeface="+mn-lt" pitchFamily="34" charset="-122"/>
                <a:cs typeface="+mn-lt" pitchFamily="34" charset="-120"/>
              </a:rPr>
              <a:t>KS</a:t>
            </a:r>
            <a:endParaRPr lang="en-US" sz="1400" dirty="0"/>
          </a:p>
        </p:txBody>
      </p:sp>
      <p:sp>
        <p:nvSpPr>
          <p:cNvPr id="16" name="Text 13"/>
          <p:cNvSpPr txBox="1"/>
          <p:nvPr/>
        </p:nvSpPr>
        <p:spPr>
          <a:xfrm>
            <a:off x="7772400" y="4169664"/>
            <a:ext cx="1188720" cy="45720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0.279</a:t>
            </a:r>
            <a:endParaRPr lang="en-US" sz="2600" dirty="0"/>
          </a:p>
        </p:txBody>
      </p:sp>
      <p:sp>
        <p:nvSpPr>
          <p:cNvPr id="17" name="Text 14"/>
          <p:cNvSpPr txBox="1"/>
          <p:nvPr/>
        </p:nvSpPr>
        <p:spPr>
          <a:xfrm>
            <a:off x="9052560" y="3913632"/>
            <a:ext cx="2423160" cy="731520"/>
          </a:xfrm>
          <a:prstGeom prst="rect">
            <a:avLst/>
          </a:prstGeom>
          <a:noFill/>
          <a:ln/>
        </p:spPr>
        <p:txBody>
          <a:bodyPr wrap="square" lIns="0" tIns="0" rIns="0" bIns="0" rtlCol="0" anchor="ctr"/>
          <a:lstStyle/>
          <a:p>
            <a:pPr indent="0" marL="0">
              <a:buNone/>
            </a:pPr>
            <a:r>
              <a:rPr lang="en-US" sz="1300" dirty="0">
                <a:solidFill>
                  <a:schemeClr val="tx1"/>
                </a:solidFill>
                <a:latin typeface="+mn-lt" pitchFamily="34" charset="0"/>
                <a:ea typeface="+mn-lt" pitchFamily="34" charset="-122"/>
                <a:cs typeface="+mn-lt" pitchFamily="34" charset="-120"/>
              </a:rPr>
              <a:t>largest gap between the score curves of the two groups</a:t>
            </a:r>
            <a:endParaRPr lang="en-US" sz="1300" dirty="0"/>
          </a:p>
        </p:txBody>
      </p:sp>
      <p:sp>
        <p:nvSpPr>
          <p:cNvPr id="18" name="review-capacity"/>
          <p:cNvSpPr/>
          <p:nvPr/>
        </p:nvSpPr>
        <p:spPr>
          <a:xfrm>
            <a:off x="7589520" y="4892040"/>
            <a:ext cx="4050792" cy="1143000"/>
          </a:xfrm>
          <a:prstGeom prst="roundRect">
            <a:avLst>
              <a:gd name="adj" fmla="val 8000"/>
            </a:avLst>
          </a:prstGeom>
          <a:solidFill>
            <a:schemeClr val="tx2"/>
          </a:solidFill>
          <a:ln w="9525">
            <a:solidFill>
              <a:schemeClr val="tx2"/>
            </a:solidFill>
            <a:prstDash val="solid"/>
          </a:ln>
        </p:spPr>
      </p:sp>
      <p:sp>
        <p:nvSpPr>
          <p:cNvPr id="19" name="Text 16"/>
          <p:cNvSpPr txBox="1"/>
          <p:nvPr/>
        </p:nvSpPr>
        <p:spPr>
          <a:xfrm>
            <a:off x="7772400" y="4983480"/>
            <a:ext cx="3685032" cy="960120"/>
          </a:xfrm>
          <a:prstGeom prst="rect">
            <a:avLst/>
          </a:prstGeom>
          <a:noFill/>
          <a:ln/>
        </p:spPr>
        <p:txBody>
          <a:bodyPr wrap="square" lIns="0" tIns="0" rIns="0" bIns="0" rtlCol="0" anchor="ctr"/>
          <a:lstStyle/>
          <a:p>
            <a:pPr indent="0" marL="0">
              <a:buNone/>
            </a:pPr>
            <a:r>
              <a:rPr lang="en-US" sz="1400" dirty="0">
                <a:solidFill>
                  <a:schemeClr val="bg1"/>
                </a:solidFill>
                <a:latin typeface="+mn-lt" pitchFamily="34" charset="0"/>
                <a:ea typeface="+mn-lt" pitchFamily="34" charset="-122"/>
                <a:cs typeface="+mn-lt" pitchFamily="34" charset="-120"/>
              </a:rPr>
              <a:t>Reviewing the top 20% of scores catches 38% of defaults, with 30% of flagged loans defaulting.</a:t>
            </a:r>
            <a:endParaRPr lang="en-US" sz="1400" dirty="0"/>
          </a:p>
        </p:txBody>
      </p:sp>
      <p:sp>
        <p:nvSpPr>
          <p:cNvPr id="20" name="Text 17"/>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00" dirty="0">
                <a:solidFill>
                  <a:schemeClr val="accent3"/>
                </a:solidFill>
                <a:latin typeface="+mn-lt" pitchFamily="34" charset="0"/>
                <a:ea typeface="+mn-lt" pitchFamily="34" charset="-122"/>
                <a:cs typeface="+mn-lt" pitchFamily="34" charset="-120"/>
              </a:rPr>
              <a:t>Source: reports/models/test_comparison.csv. 2,938 test loans; customers never appear in both training and test.</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Every score comes with its reasons, for the portfolio and for each loan</a:t>
            </a:r>
            <a:endParaRPr lang="en-US" sz="3600" dirty="0"/>
          </a:p>
        </p:txBody>
      </p:sp>
      <p:sp>
        <p:nvSpPr>
          <p:cNvPr id="3" name="Text 1"/>
          <p:cNvSpPr txBox="1"/>
          <p:nvPr/>
        </p:nvSpPr>
        <p:spPr>
          <a:xfrm>
            <a:off x="548640" y="1554480"/>
            <a:ext cx="603504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What drives the model overall</a:t>
            </a:r>
            <a:endParaRPr lang="en-US" sz="1800" dirty="0"/>
          </a:p>
        </p:txBody>
      </p:sp>
      <p:graphicFrame>
        <p:nvGraphicFramePr>
          <p:cNvPr id="4" name="chart-drivers" descr=""/>
          <p:cNvGraphicFramePr/>
          <p:nvPr/>
        </p:nvGraphicFramePr>
        <p:xfrm>
          <a:off x="548640" y="1965960"/>
          <a:ext cx="603504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623560"/>
            <a:ext cx="6035040" cy="457200"/>
          </a:xfrm>
          <a:prstGeom prst="rect">
            <a:avLst/>
          </a:prstGeom>
          <a:noFill/>
          <a:ln/>
        </p:spPr>
        <p:txBody>
          <a:bodyPr wrap="square" lIns="0" tIns="0" rIns="0" bIns="0" rtlCol="0" anchor="t"/>
          <a:lstStyle/>
          <a:p>
            <a:pPr indent="0" marL="0">
              <a:buNone/>
            </a:pPr>
            <a:r>
              <a:rPr lang="en-US" sz="1200" dirty="0">
                <a:solidFill>
                  <a:schemeClr val="accent3"/>
                </a:solidFill>
                <a:latin typeface="+mn-lt" pitchFamily="34" charset="0"/>
                <a:ea typeface="+mn-lt" pitchFamily="34" charset="-122"/>
                <a:cs typeface="+mn-lt" pitchFamily="34" charset="-120"/>
              </a:rPr>
              <a:t>Average size of each input's contribution across test loans, in log-odds. Larger means more influence, in either direction.</a:t>
            </a:r>
            <a:endParaRPr lang="en-US" sz="1200" dirty="0"/>
          </a:p>
        </p:txBody>
      </p:sp>
      <p:sp>
        <p:nvSpPr>
          <p:cNvPr id="6" name="loan-card"/>
          <p:cNvSpPr/>
          <p:nvPr/>
        </p:nvSpPr>
        <p:spPr>
          <a:xfrm>
            <a:off x="6903720" y="1554480"/>
            <a:ext cx="4736592" cy="4526280"/>
          </a:xfrm>
          <a:prstGeom prst="roundRect">
            <a:avLst>
              <a:gd name="adj" fmla="val 2020"/>
            </a:avLst>
          </a:prstGeom>
          <a:solidFill>
            <a:schemeClr val="bg2"/>
          </a:solidFill>
          <a:ln w="9525">
            <a:solidFill>
              <a:schemeClr val="bg2"/>
            </a:solidFill>
            <a:prstDash val="solid"/>
          </a:ln>
        </p:spPr>
      </p:sp>
      <p:sp>
        <p:nvSpPr>
          <p:cNvPr id="7" name="Text 4"/>
          <p:cNvSpPr txBox="1"/>
          <p:nvPr/>
        </p:nvSpPr>
        <p:spPr>
          <a:xfrm>
            <a:off x="7132320" y="1691640"/>
            <a:ext cx="429768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One loan, as a credit officer sees it</a:t>
            </a:r>
            <a:endParaRPr lang="en-US" sz="1800" dirty="0"/>
          </a:p>
        </p:txBody>
      </p:sp>
      <p:sp>
        <p:nvSpPr>
          <p:cNvPr id="8" name="Text 5"/>
          <p:cNvSpPr txBox="1"/>
          <p:nvPr/>
        </p:nvSpPr>
        <p:spPr>
          <a:xfrm>
            <a:off x="7132320" y="2103120"/>
            <a:ext cx="4297680" cy="320040"/>
          </a:xfrm>
          <a:prstGeom prst="rect">
            <a:avLst/>
          </a:prstGeom>
          <a:noFill/>
          <a:ln/>
        </p:spPr>
        <p:txBody>
          <a:bodyPr wrap="square" lIns="0" tIns="0" rIns="0" bIns="0" rtlCol="0" anchor="t"/>
          <a:lstStyle/>
          <a:p>
            <a:pPr indent="0" marL="0">
              <a:buNone/>
            </a:pPr>
            <a:r>
              <a:rPr lang="en-US" sz="1300" dirty="0">
                <a:solidFill>
                  <a:schemeClr val="accent3"/>
                </a:solidFill>
                <a:latin typeface="+mn-lt" pitchFamily="34" charset="0"/>
                <a:ea typeface="+mn-lt" pitchFamily="34" charset="-122"/>
                <a:cs typeface="+mn-lt" pitchFamily="34" charset="-120"/>
              </a:rPr>
              <a:t>ACC203222  ·  Mortgage  ·  Unemployed  ·  income $12,000</a:t>
            </a:r>
            <a:endParaRPr lang="en-US" sz="1300" dirty="0"/>
          </a:p>
        </p:txBody>
      </p:sp>
      <p:sp>
        <p:nvSpPr>
          <p:cNvPr id="9" name="Text 6"/>
          <p:cNvSpPr txBox="1"/>
          <p:nvPr/>
        </p:nvSpPr>
        <p:spPr>
          <a:xfrm>
            <a:off x="7132320" y="2468880"/>
            <a:ext cx="1554480" cy="731520"/>
          </a:xfrm>
          <a:prstGeom prst="rect">
            <a:avLst/>
          </a:prstGeom>
          <a:noFill/>
          <a:ln/>
        </p:spPr>
        <p:txBody>
          <a:bodyPr wrap="square" lIns="0" tIns="0" rIns="0" bIns="0" rtlCol="0" anchor="t"/>
          <a:lstStyle/>
          <a:p>
            <a:pPr indent="0" marL="0">
              <a:buNone/>
            </a:pPr>
            <a:r>
              <a:rPr lang="en-US" sz="4400" b="1" dirty="0">
                <a:solidFill>
                  <a:schemeClr val="accent2"/>
                </a:solidFill>
                <a:latin typeface="+mj-lt" pitchFamily="34" charset="0"/>
                <a:ea typeface="+mj-lt" pitchFamily="34" charset="-122"/>
                <a:cs typeface="+mj-lt" pitchFamily="34" charset="-120"/>
              </a:rPr>
              <a:t>93%</a:t>
            </a:r>
            <a:endParaRPr lang="en-US" sz="4400" dirty="0"/>
          </a:p>
        </p:txBody>
      </p:sp>
      <p:sp>
        <p:nvSpPr>
          <p:cNvPr id="10" name="Text 7"/>
          <p:cNvSpPr txBox="1"/>
          <p:nvPr/>
        </p:nvSpPr>
        <p:spPr>
          <a:xfrm>
            <a:off x="8778240" y="2560320"/>
            <a:ext cx="2697480" cy="640080"/>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High relative risk band</a:t>
            </a:r>
            <a:endParaRPr lang="en-US" sz="1400" dirty="0"/>
          </a:p>
          <a:p>
            <a:pPr indent="0" marL="0">
              <a:buNone/>
            </a:pPr>
            <a:r>
              <a:rPr lang="en-US" sz="1400" dirty="0">
                <a:solidFill>
                  <a:schemeClr val="tx1"/>
                </a:solidFill>
                <a:latin typeface="+mn-lt" pitchFamily="34" charset="0"/>
                <a:ea typeface="+mn-lt" pitchFamily="34" charset="-122"/>
                <a:cs typeface="+mn-lt" pitchFamily="34" charset="-120"/>
              </a:rPr>
              <a:t>Recorded outcome: Defaulted</a:t>
            </a:r>
            <a:endParaRPr lang="en-US" sz="1400" dirty="0"/>
          </a:p>
        </p:txBody>
      </p:sp>
      <p:sp>
        <p:nvSpPr>
          <p:cNvPr id="11" name="Text 8"/>
          <p:cNvSpPr txBox="1"/>
          <p:nvPr/>
        </p:nvSpPr>
        <p:spPr>
          <a:xfrm>
            <a:off x="7132320" y="3337560"/>
            <a:ext cx="4297680" cy="274320"/>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Top three reasons</a:t>
            </a:r>
            <a:endParaRPr lang="en-US" sz="1400" dirty="0"/>
          </a:p>
        </p:txBody>
      </p:sp>
      <p:graphicFrame>
        <p:nvGraphicFramePr>
          <p:cNvPr id="12" name="chart-loan-drivers" descr=""/>
          <p:cNvGraphicFramePr/>
          <p:nvPr/>
        </p:nvGraphicFramePr>
        <p:xfrm>
          <a:off x="7040880" y="3611880"/>
          <a:ext cx="4480560" cy="169164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7132320" y="5349240"/>
            <a:ext cx="4297680" cy="640080"/>
          </a:xfrm>
          <a:prstGeom prst="rect">
            <a:avLst/>
          </a:prstGeom>
          <a:noFill/>
          <a:ln/>
        </p:spPr>
        <p:txBody>
          <a:bodyPr wrap="square" lIns="0" tIns="0" rIns="0" bIns="0" rtlCol="0" anchor="t"/>
          <a:lstStyle/>
          <a:p>
            <a:pPr indent="0" marL="0">
              <a:buNone/>
            </a:pPr>
            <a:r>
              <a:rPr lang="en-US" sz="1200" dirty="0">
                <a:solidFill>
                  <a:schemeClr val="accent3"/>
                </a:solidFill>
                <a:latin typeface="+mn-lt" pitchFamily="34" charset="0"/>
                <a:ea typeface="+mn-lt" pitchFamily="34" charset="-122"/>
                <a:cs typeface="+mn-lt" pitchFamily="34" charset="-120"/>
              </a:rPr>
              <a:t>Positive values raise the score. Explanations are additive, not causal, and never a rejection reason on their own.</a:t>
            </a:r>
            <a:endParaRPr lang="en-US" sz="1200" dirty="0"/>
          </a:p>
        </p:txBody>
      </p:sp>
      <p:sp>
        <p:nvSpPr>
          <p:cNvPr id="14" name="Text 10"/>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00" dirty="0">
                <a:solidFill>
                  <a:schemeClr val="accent3"/>
                </a:solidFill>
                <a:latin typeface="+mn-lt" pitchFamily="34" charset="0"/>
                <a:ea typeface="+mn-lt" pitchFamily="34" charset="-122"/>
                <a:cs typeface="+mn-lt" pitchFamily="34" charset="-120"/>
              </a:rPr>
              <a:t>Sources: reports/models/contribution_importance.csv, data/processed/loan_risk_scores.csv (held-out test loan).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Ask the Portfolio answers from the data, and a person checks every answer</a:t>
            </a:r>
            <a:endParaRPr lang="en-US" sz="3600" dirty="0"/>
          </a:p>
        </p:txBody>
      </p:sp>
      <p:sp>
        <p:nvSpPr>
          <p:cNvPr id="3" name="Text 1"/>
          <p:cNvSpPr txBox="1"/>
          <p:nvPr/>
        </p:nvSpPr>
        <p:spPr>
          <a:xfrm>
            <a:off x="4322978" y="1481328"/>
            <a:ext cx="1658569" cy="256032"/>
          </a:xfrm>
          <a:prstGeom prst="rect">
            <a:avLst/>
          </a:prstGeom>
          <a:noFill/>
          <a:ln/>
        </p:spPr>
        <p:txBody>
          <a:bodyPr wrap="square" lIns="0" tIns="0" rIns="0" bIns="0" rtlCol="0" anchor="t"/>
          <a:lstStyle/>
          <a:p>
            <a:pPr algn="ctr" indent="0" marL="0">
              <a:buNone/>
            </a:pPr>
            <a:r>
              <a:rPr lang="en-US" sz="1200" b="1" dirty="0">
                <a:solidFill>
                  <a:schemeClr val="accent2"/>
                </a:solidFill>
                <a:latin typeface="+mn-lt" pitchFamily="34" charset="0"/>
                <a:ea typeface="+mn-lt" pitchFamily="34" charset="-122"/>
                <a:cs typeface="+mn-lt" pitchFamily="34" charset="-120"/>
              </a:rPr>
              <a:t>outside the bank</a:t>
            </a:r>
            <a:endParaRPr lang="en-US" sz="1200" dirty="0"/>
          </a:p>
        </p:txBody>
      </p:sp>
      <p:sp>
        <p:nvSpPr>
          <p:cNvPr id="4" name="ai-step-1"/>
          <p:cNvSpPr/>
          <p:nvPr/>
        </p:nvSpPr>
        <p:spPr>
          <a:xfrm>
            <a:off x="548640" y="1783080"/>
            <a:ext cx="1658569" cy="1325880"/>
          </a:xfrm>
          <a:prstGeom prst="roundRect">
            <a:avLst>
              <a:gd name="adj" fmla="val 5517"/>
            </a:avLst>
          </a:prstGeom>
          <a:solidFill>
            <a:schemeClr val="bg1"/>
          </a:solidFill>
          <a:ln w="12700">
            <a:solidFill>
              <a:schemeClr val="accent3"/>
            </a:solidFill>
            <a:prstDash val="solid"/>
          </a:ln>
        </p:spPr>
      </p:sp>
      <p:sp>
        <p:nvSpPr>
          <p:cNvPr id="5" name="Text 3"/>
          <p:cNvSpPr txBox="1"/>
          <p:nvPr/>
        </p:nvSpPr>
        <p:spPr>
          <a:xfrm>
            <a:off x="640080" y="1856232"/>
            <a:ext cx="1475689" cy="1207008"/>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1 Analyst asks</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a plain-English question</a:t>
            </a:r>
            <a:endParaRPr lang="en-US" sz="1400" dirty="0"/>
          </a:p>
        </p:txBody>
      </p:sp>
      <p:sp>
        <p:nvSpPr>
          <p:cNvPr id="6" name="ai-arrow-1"/>
          <p:cNvSpPr/>
          <p:nvPr/>
        </p:nvSpPr>
        <p:spPr>
          <a:xfrm>
            <a:off x="2207209" y="2441448"/>
            <a:ext cx="228600" cy="914"/>
          </a:xfrm>
          <a:prstGeom prst="line">
            <a:avLst/>
          </a:prstGeom>
          <a:noFill/>
          <a:ln w="15875">
            <a:solidFill>
              <a:schemeClr val="accent3"/>
            </a:solidFill>
            <a:prstDash val="solid"/>
            <a:tailEnd type="triangle"/>
          </a:ln>
        </p:spPr>
      </p:sp>
      <p:sp>
        <p:nvSpPr>
          <p:cNvPr id="7" name="ai-step-2"/>
          <p:cNvSpPr/>
          <p:nvPr/>
        </p:nvSpPr>
        <p:spPr>
          <a:xfrm>
            <a:off x="2435809" y="1783080"/>
            <a:ext cx="1658569" cy="1325880"/>
          </a:xfrm>
          <a:prstGeom prst="roundRect">
            <a:avLst>
              <a:gd name="adj" fmla="val 5517"/>
            </a:avLst>
          </a:prstGeom>
          <a:solidFill>
            <a:schemeClr val="bg1"/>
          </a:solidFill>
          <a:ln w="12700">
            <a:solidFill>
              <a:schemeClr val="accent3"/>
            </a:solidFill>
            <a:prstDash val="solid"/>
          </a:ln>
        </p:spPr>
      </p:sp>
      <p:sp>
        <p:nvSpPr>
          <p:cNvPr id="8" name="Text 6"/>
          <p:cNvSpPr txBox="1"/>
          <p:nvPr/>
        </p:nvSpPr>
        <p:spPr>
          <a:xfrm>
            <a:off x="2527249" y="1856232"/>
            <a:ext cx="1475689" cy="1207008"/>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2 Safety check</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blocks off-topic, injection and approval requests</a:t>
            </a:r>
            <a:endParaRPr lang="en-US" sz="1400" dirty="0"/>
          </a:p>
        </p:txBody>
      </p:sp>
      <p:sp>
        <p:nvSpPr>
          <p:cNvPr id="9" name="ai-arrow-2"/>
          <p:cNvSpPr/>
          <p:nvPr/>
        </p:nvSpPr>
        <p:spPr>
          <a:xfrm>
            <a:off x="4094378" y="2441448"/>
            <a:ext cx="228600" cy="914"/>
          </a:xfrm>
          <a:prstGeom prst="line">
            <a:avLst/>
          </a:prstGeom>
          <a:noFill/>
          <a:ln w="15875">
            <a:solidFill>
              <a:schemeClr val="accent3"/>
            </a:solidFill>
            <a:prstDash val="solid"/>
            <a:tailEnd type="triangle"/>
          </a:ln>
        </p:spPr>
      </p:sp>
      <p:sp>
        <p:nvSpPr>
          <p:cNvPr id="10" name="ai-step-3"/>
          <p:cNvSpPr/>
          <p:nvPr/>
        </p:nvSpPr>
        <p:spPr>
          <a:xfrm>
            <a:off x="4322978" y="1783080"/>
            <a:ext cx="1658569" cy="1325880"/>
          </a:xfrm>
          <a:prstGeom prst="roundRect">
            <a:avLst>
              <a:gd name="adj" fmla="val 5517"/>
            </a:avLst>
          </a:prstGeom>
          <a:solidFill>
            <a:schemeClr val="bg1"/>
          </a:solidFill>
          <a:ln w="19050">
            <a:solidFill>
              <a:schemeClr val="accent2"/>
            </a:solidFill>
            <a:prstDash val="dash"/>
          </a:ln>
        </p:spPr>
      </p:sp>
      <p:sp>
        <p:nvSpPr>
          <p:cNvPr id="11" name="Text 9"/>
          <p:cNvSpPr txBox="1"/>
          <p:nvPr/>
        </p:nvSpPr>
        <p:spPr>
          <a:xfrm>
            <a:off x="4414418" y="1856232"/>
            <a:ext cx="1475689" cy="1207008"/>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3 Claude plans</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picks one approved query; sees no customer data</a:t>
            </a:r>
            <a:endParaRPr lang="en-US" sz="1400" dirty="0"/>
          </a:p>
        </p:txBody>
      </p:sp>
      <p:sp>
        <p:nvSpPr>
          <p:cNvPr id="12" name="ai-arrow-3"/>
          <p:cNvSpPr/>
          <p:nvPr/>
        </p:nvSpPr>
        <p:spPr>
          <a:xfrm>
            <a:off x="5981548" y="2441448"/>
            <a:ext cx="228600" cy="914"/>
          </a:xfrm>
          <a:prstGeom prst="line">
            <a:avLst/>
          </a:prstGeom>
          <a:noFill/>
          <a:ln w="15875">
            <a:solidFill>
              <a:schemeClr val="accent3"/>
            </a:solidFill>
            <a:prstDash val="solid"/>
            <a:tailEnd type="triangle"/>
          </a:ln>
        </p:spPr>
      </p:sp>
      <p:sp>
        <p:nvSpPr>
          <p:cNvPr id="13" name="ai-step-4"/>
          <p:cNvSpPr/>
          <p:nvPr/>
        </p:nvSpPr>
        <p:spPr>
          <a:xfrm>
            <a:off x="6210148" y="1783080"/>
            <a:ext cx="1658569" cy="1325880"/>
          </a:xfrm>
          <a:prstGeom prst="roundRect">
            <a:avLst>
              <a:gd name="adj" fmla="val 5517"/>
            </a:avLst>
          </a:prstGeom>
          <a:solidFill>
            <a:schemeClr val="bg1"/>
          </a:solidFill>
          <a:ln w="12700">
            <a:solidFill>
              <a:schemeClr val="accent3"/>
            </a:solidFill>
            <a:prstDash val="solid"/>
          </a:ln>
        </p:spPr>
      </p:sp>
      <p:sp>
        <p:nvSpPr>
          <p:cNvPr id="14" name="Text 12"/>
          <p:cNvSpPr txBox="1"/>
          <p:nvPr/>
        </p:nvSpPr>
        <p:spPr>
          <a:xfrm>
            <a:off x="6301588" y="1856232"/>
            <a:ext cx="1475689" cy="1207008"/>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4 App validates</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the plan is checked against the approved schema</a:t>
            </a:r>
            <a:endParaRPr lang="en-US" sz="1400" dirty="0"/>
          </a:p>
        </p:txBody>
      </p:sp>
      <p:sp>
        <p:nvSpPr>
          <p:cNvPr id="15" name="ai-arrow-4"/>
          <p:cNvSpPr/>
          <p:nvPr/>
        </p:nvSpPr>
        <p:spPr>
          <a:xfrm>
            <a:off x="7868717" y="2441448"/>
            <a:ext cx="228600" cy="914"/>
          </a:xfrm>
          <a:prstGeom prst="line">
            <a:avLst/>
          </a:prstGeom>
          <a:noFill/>
          <a:ln w="15875">
            <a:solidFill>
              <a:schemeClr val="accent3"/>
            </a:solidFill>
            <a:prstDash val="solid"/>
            <a:tailEnd type="triangle"/>
          </a:ln>
        </p:spPr>
      </p:sp>
      <p:sp>
        <p:nvSpPr>
          <p:cNvPr id="16" name="ai-step-5"/>
          <p:cNvSpPr/>
          <p:nvPr/>
        </p:nvSpPr>
        <p:spPr>
          <a:xfrm>
            <a:off x="8097317" y="1783080"/>
            <a:ext cx="1658569" cy="1325880"/>
          </a:xfrm>
          <a:prstGeom prst="roundRect">
            <a:avLst>
              <a:gd name="adj" fmla="val 5517"/>
            </a:avLst>
          </a:prstGeom>
          <a:solidFill>
            <a:schemeClr val="bg1"/>
          </a:solidFill>
          <a:ln w="12700">
            <a:solidFill>
              <a:schemeClr val="accent3"/>
            </a:solidFill>
            <a:prstDash val="solid"/>
          </a:ln>
        </p:spPr>
      </p:sp>
      <p:sp>
        <p:nvSpPr>
          <p:cNvPr id="17" name="Text 15"/>
          <p:cNvSpPr txBox="1"/>
          <p:nvPr/>
        </p:nvSpPr>
        <p:spPr>
          <a:xfrm>
            <a:off x="8188757" y="1856232"/>
            <a:ext cx="1475689" cy="1207008"/>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5 pandas computes</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every figure is calculated on the bank's machine</a:t>
            </a:r>
            <a:endParaRPr lang="en-US" sz="1400" dirty="0"/>
          </a:p>
        </p:txBody>
      </p:sp>
      <p:sp>
        <p:nvSpPr>
          <p:cNvPr id="18" name="ai-arrow-5"/>
          <p:cNvSpPr/>
          <p:nvPr/>
        </p:nvSpPr>
        <p:spPr>
          <a:xfrm>
            <a:off x="9755886" y="2441448"/>
            <a:ext cx="228600" cy="914"/>
          </a:xfrm>
          <a:prstGeom prst="line">
            <a:avLst/>
          </a:prstGeom>
          <a:noFill/>
          <a:ln w="15875">
            <a:solidFill>
              <a:schemeClr val="accent3"/>
            </a:solidFill>
            <a:prstDash val="solid"/>
            <a:tailEnd type="triangle"/>
          </a:ln>
        </p:spPr>
      </p:sp>
      <p:sp>
        <p:nvSpPr>
          <p:cNvPr id="19" name="ai-step-6"/>
          <p:cNvSpPr/>
          <p:nvPr/>
        </p:nvSpPr>
        <p:spPr>
          <a:xfrm>
            <a:off x="9984486" y="1783080"/>
            <a:ext cx="1658569" cy="1325880"/>
          </a:xfrm>
          <a:prstGeom prst="roundRect">
            <a:avLst>
              <a:gd name="adj" fmla="val 5517"/>
            </a:avLst>
          </a:prstGeom>
          <a:solidFill>
            <a:schemeClr val="bg1"/>
          </a:solidFill>
          <a:ln w="12700">
            <a:solidFill>
              <a:schemeClr val="accent3"/>
            </a:solidFill>
            <a:prstDash val="solid"/>
          </a:ln>
        </p:spPr>
      </p:sp>
      <p:sp>
        <p:nvSpPr>
          <p:cNvPr id="20" name="Text 18"/>
          <p:cNvSpPr txBox="1"/>
          <p:nvPr/>
        </p:nvSpPr>
        <p:spPr>
          <a:xfrm>
            <a:off x="10075926" y="1856232"/>
            <a:ext cx="1475689" cy="1207008"/>
          </a:xfrm>
          <a:prstGeom prst="rect">
            <a:avLst/>
          </a:prstGeom>
          <a:noFill/>
          <a:ln/>
        </p:spPr>
        <p:txBody>
          <a:bodyPr wrap="square" lIns="0" tIns="0" rIns="0" bIns="0" rtlCol="0" anchor="t"/>
          <a:lstStyle/>
          <a:p>
            <a:pPr indent="0" marL="0">
              <a:buNone/>
            </a:pPr>
            <a:r>
              <a:rPr lang="en-US" sz="1400" b="1" dirty="0">
                <a:solidFill>
                  <a:schemeClr val="tx1"/>
                </a:solidFill>
                <a:latin typeface="+mn-lt" pitchFamily="34" charset="0"/>
                <a:ea typeface="+mn-lt" pitchFamily="34" charset="-122"/>
                <a:cs typeface="+mn-lt" pitchFamily="34" charset="-120"/>
              </a:rPr>
              <a:t>6 Answer shown</a:t>
            </a:r>
            <a:endParaRPr lang="en-US" sz="1400" dirty="0"/>
          </a:p>
          <a:p>
            <a:pPr indent="0" marL="0">
              <a:buNone/>
            </a:pPr>
            <a:r>
              <a:rPr lang="en-US" sz="1200" dirty="0">
                <a:solidFill>
                  <a:schemeClr val="tx1"/>
                </a:solidFill>
                <a:latin typeface="+mn-lt" pitchFamily="34" charset="0"/>
                <a:ea typeface="+mn-lt" pitchFamily="34" charset="-122"/>
                <a:cs typeface="+mn-lt" pitchFamily="34" charset="-120"/>
              </a:rPr>
              <a:t>with its filters, a table and an audit-log entry</a:t>
            </a:r>
            <a:endParaRPr lang="en-US" sz="1400" dirty="0"/>
          </a:p>
        </p:txBody>
      </p:sp>
      <p:sp>
        <p:nvSpPr>
          <p:cNvPr id="21" name="ai-card-1"/>
          <p:cNvSpPr/>
          <p:nvPr/>
        </p:nvSpPr>
        <p:spPr>
          <a:xfrm>
            <a:off x="548640" y="3429000"/>
            <a:ext cx="2567864" cy="2240280"/>
          </a:xfrm>
          <a:prstGeom prst="roundRect">
            <a:avLst>
              <a:gd name="adj" fmla="val 4082"/>
            </a:avLst>
          </a:prstGeom>
          <a:solidFill>
            <a:schemeClr val="bg2"/>
          </a:solidFill>
          <a:ln w="9525">
            <a:solidFill>
              <a:schemeClr val="bg2"/>
            </a:solidFill>
            <a:prstDash val="solid"/>
          </a:ln>
        </p:spPr>
      </p:sp>
      <p:sp>
        <p:nvSpPr>
          <p:cNvPr id="22" name="Text 20"/>
          <p:cNvSpPr txBox="1"/>
          <p:nvPr/>
        </p:nvSpPr>
        <p:spPr>
          <a:xfrm>
            <a:off x="749808" y="3584448"/>
            <a:ext cx="2165528"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Trigger</a:t>
            </a:r>
            <a:endParaRPr lang="en-US" sz="1800" dirty="0"/>
          </a:p>
        </p:txBody>
      </p:sp>
      <p:sp>
        <p:nvSpPr>
          <p:cNvPr id="23" name="Text 21"/>
          <p:cNvSpPr txBox="1"/>
          <p:nvPr/>
        </p:nvSpPr>
        <p:spPr>
          <a:xfrm>
            <a:off x="749808" y="4023360"/>
            <a:ext cx="2165528" cy="1920240"/>
          </a:xfrm>
          <a:prstGeom prst="rect">
            <a:avLst/>
          </a:prstGeom>
          <a:noFill/>
          <a:ln/>
        </p:spPr>
        <p:txBody>
          <a:bodyPr wrap="square" lIns="0" tIns="0" rIns="0" bIns="0" rtlCol="0" anchor="t"/>
          <a:lstStyle/>
          <a:p>
            <a:pPr indent="0" marL="0">
              <a:buNone/>
            </a:pPr>
            <a:r>
              <a:rPr lang="en-US" sz="1400" dirty="0">
                <a:solidFill>
                  <a:schemeClr val="tx1"/>
                </a:solidFill>
                <a:latin typeface="+mn-lt" pitchFamily="34" charset="0"/>
                <a:ea typeface="+mn-lt" pitchFamily="34" charset="-122"/>
                <a:cs typeface="+mn-lt" pitchFamily="34" charset="-120"/>
              </a:rPr>
              <a:t>An analyst types a question or presses a shortcut. Nothing runs on its own, and nothing changes the data.</a:t>
            </a:r>
            <a:endParaRPr lang="en-US" sz="1400" dirty="0"/>
          </a:p>
        </p:txBody>
      </p:sp>
      <p:sp>
        <p:nvSpPr>
          <p:cNvPr id="24" name="ai-card-2"/>
          <p:cNvSpPr/>
          <p:nvPr/>
        </p:nvSpPr>
        <p:spPr>
          <a:xfrm>
            <a:off x="3390824" y="3429000"/>
            <a:ext cx="2567864" cy="2240280"/>
          </a:xfrm>
          <a:prstGeom prst="roundRect">
            <a:avLst>
              <a:gd name="adj" fmla="val 4082"/>
            </a:avLst>
          </a:prstGeom>
          <a:solidFill>
            <a:schemeClr val="bg2"/>
          </a:solidFill>
          <a:ln w="9525">
            <a:solidFill>
              <a:schemeClr val="bg2"/>
            </a:solidFill>
            <a:prstDash val="solid"/>
          </a:ln>
        </p:spPr>
      </p:sp>
      <p:sp>
        <p:nvSpPr>
          <p:cNvPr id="25" name="Text 23"/>
          <p:cNvSpPr txBox="1"/>
          <p:nvPr/>
        </p:nvSpPr>
        <p:spPr>
          <a:xfrm>
            <a:off x="3591992" y="3584448"/>
            <a:ext cx="2165528"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False positive</a:t>
            </a:r>
            <a:endParaRPr lang="en-US" sz="1800" dirty="0"/>
          </a:p>
        </p:txBody>
      </p:sp>
      <p:sp>
        <p:nvSpPr>
          <p:cNvPr id="26" name="Text 24"/>
          <p:cNvSpPr txBox="1"/>
          <p:nvPr/>
        </p:nvSpPr>
        <p:spPr>
          <a:xfrm>
            <a:off x="3591992" y="4023360"/>
            <a:ext cx="2165528" cy="1920240"/>
          </a:xfrm>
          <a:prstGeom prst="rect">
            <a:avLst/>
          </a:prstGeom>
          <a:noFill/>
          <a:ln/>
        </p:spPr>
        <p:txBody>
          <a:bodyPr wrap="square" lIns="0" tIns="0" rIns="0" bIns="0" rtlCol="0" anchor="t"/>
          <a:lstStyle/>
          <a:p>
            <a:pPr indent="0" marL="0">
              <a:buNone/>
            </a:pPr>
            <a:r>
              <a:rPr lang="en-US" sz="1400" dirty="0">
                <a:solidFill>
                  <a:schemeClr val="tx1"/>
                </a:solidFill>
                <a:latin typeface="+mn-lt" pitchFamily="34" charset="0"/>
                <a:ea typeface="+mn-lt" pitchFamily="34" charset="-122"/>
                <a:cs typeface="+mn-lt" pitchFamily="34" charset="-120"/>
              </a:rPr>
              <a:t>A valid question is refused or sent back for rephrasing, such as unusual wording or an unsupported calculation. Fix: rephrase or use a shortcut.</a:t>
            </a:r>
            <a:endParaRPr lang="en-US" sz="1400" dirty="0"/>
          </a:p>
        </p:txBody>
      </p:sp>
      <p:sp>
        <p:nvSpPr>
          <p:cNvPr id="27" name="ai-card-3"/>
          <p:cNvSpPr/>
          <p:nvPr/>
        </p:nvSpPr>
        <p:spPr>
          <a:xfrm>
            <a:off x="6233008" y="3429000"/>
            <a:ext cx="2567864" cy="2240280"/>
          </a:xfrm>
          <a:prstGeom prst="roundRect">
            <a:avLst>
              <a:gd name="adj" fmla="val 4082"/>
            </a:avLst>
          </a:prstGeom>
          <a:solidFill>
            <a:schemeClr val="bg2"/>
          </a:solidFill>
          <a:ln w="9525">
            <a:solidFill>
              <a:schemeClr val="bg2"/>
            </a:solidFill>
            <a:prstDash val="solid"/>
          </a:ln>
        </p:spPr>
      </p:sp>
      <p:sp>
        <p:nvSpPr>
          <p:cNvPr id="28" name="Text 26"/>
          <p:cNvSpPr txBox="1"/>
          <p:nvPr/>
        </p:nvSpPr>
        <p:spPr>
          <a:xfrm>
            <a:off x="6434176" y="3584448"/>
            <a:ext cx="2165528"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False negative</a:t>
            </a:r>
            <a:endParaRPr lang="en-US" sz="1800" dirty="0"/>
          </a:p>
        </p:txBody>
      </p:sp>
      <p:sp>
        <p:nvSpPr>
          <p:cNvPr id="29" name="Text 27"/>
          <p:cNvSpPr txBox="1"/>
          <p:nvPr/>
        </p:nvSpPr>
        <p:spPr>
          <a:xfrm>
            <a:off x="6434176" y="4023360"/>
            <a:ext cx="2165528" cy="1920240"/>
          </a:xfrm>
          <a:prstGeom prst="rect">
            <a:avLst/>
          </a:prstGeom>
          <a:noFill/>
          <a:ln/>
        </p:spPr>
        <p:txBody>
          <a:bodyPr wrap="square" lIns="0" tIns="0" rIns="0" bIns="0" rtlCol="0" anchor="t"/>
          <a:lstStyle/>
          <a:p>
            <a:pPr indent="0" marL="0">
              <a:buNone/>
            </a:pPr>
            <a:r>
              <a:rPr lang="en-US" sz="1400" dirty="0">
                <a:solidFill>
                  <a:schemeClr val="tx1"/>
                </a:solidFill>
                <a:latin typeface="+mn-lt" pitchFamily="34" charset="0"/>
                <a:ea typeface="+mn-lt" pitchFamily="34" charset="-122"/>
                <a:cs typeface="+mn-lt" pitchFamily="34" charset="-120"/>
              </a:rPr>
              <a:t>A question is matched to the wrong but valid query, such as the wrong filter. Fix: every answer shows the filters it applied.</a:t>
            </a:r>
            <a:endParaRPr lang="en-US" sz="1400" dirty="0"/>
          </a:p>
        </p:txBody>
      </p:sp>
      <p:sp>
        <p:nvSpPr>
          <p:cNvPr id="30" name="ai-card-4"/>
          <p:cNvSpPr/>
          <p:nvPr/>
        </p:nvSpPr>
        <p:spPr>
          <a:xfrm>
            <a:off x="9075191" y="3429000"/>
            <a:ext cx="2567864" cy="2240280"/>
          </a:xfrm>
          <a:prstGeom prst="roundRect">
            <a:avLst>
              <a:gd name="adj" fmla="val 4082"/>
            </a:avLst>
          </a:prstGeom>
          <a:solidFill>
            <a:schemeClr val="accent1"/>
          </a:solidFill>
          <a:ln w="9525">
            <a:solidFill>
              <a:schemeClr val="accent1"/>
            </a:solidFill>
            <a:prstDash val="solid"/>
          </a:ln>
        </p:spPr>
      </p:sp>
      <p:sp>
        <p:nvSpPr>
          <p:cNvPr id="31" name="Text 29"/>
          <p:cNvSpPr txBox="1"/>
          <p:nvPr/>
        </p:nvSpPr>
        <p:spPr>
          <a:xfrm>
            <a:off x="9276359" y="3584448"/>
            <a:ext cx="2165528" cy="36576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Human in the loop</a:t>
            </a:r>
            <a:endParaRPr lang="en-US" sz="1800" dirty="0"/>
          </a:p>
        </p:txBody>
      </p:sp>
      <p:sp>
        <p:nvSpPr>
          <p:cNvPr id="32" name="Text 30"/>
          <p:cNvSpPr txBox="1"/>
          <p:nvPr/>
        </p:nvSpPr>
        <p:spPr>
          <a:xfrm>
            <a:off x="9276359" y="4023360"/>
            <a:ext cx="2165528" cy="1920240"/>
          </a:xfrm>
          <a:prstGeom prst="rect">
            <a:avLst/>
          </a:prstGeom>
          <a:noFill/>
          <a:ln/>
        </p:spPr>
        <p:txBody>
          <a:bodyPr wrap="square" lIns="0" tIns="0" rIns="0" bIns="0" rtlCol="0" anchor="t"/>
          <a:lstStyle/>
          <a:p>
            <a:pPr indent="0" marL="0">
              <a:buNone/>
            </a:pPr>
            <a:r>
              <a:rPr lang="en-US" sz="1400" dirty="0">
                <a:solidFill>
                  <a:schemeClr val="bg1"/>
                </a:solidFill>
                <a:latin typeface="+mn-lt" pitchFamily="34" charset="0"/>
                <a:ea typeface="+mn-lt" pitchFamily="34" charset="-122"/>
                <a:cs typeface="+mn-lt" pitchFamily="34" charset="-120"/>
              </a:rPr>
              <a:t>Answers and scores inform. A credit officer checks the filters and table and makes any lending decision.</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Built for model-risk and data-protection review, with monthly monitoring</a:t>
            </a:r>
            <a:endParaRPr lang="en-US" sz="3600" dirty="0"/>
          </a:p>
        </p:txBody>
      </p:sp>
      <p:sp>
        <p:nvSpPr>
          <p:cNvPr id="3" name="control-1"/>
          <p:cNvSpPr/>
          <p:nvPr/>
        </p:nvSpPr>
        <p:spPr>
          <a:xfrm>
            <a:off x="548640" y="1600200"/>
            <a:ext cx="3246120" cy="2148840"/>
          </a:xfrm>
          <a:prstGeom prst="roundRect">
            <a:avLst>
              <a:gd name="adj" fmla="val 4255"/>
            </a:avLst>
          </a:prstGeom>
          <a:solidFill>
            <a:schemeClr val="bg2"/>
          </a:solidFill>
          <a:ln w="9525">
            <a:solidFill>
              <a:schemeClr val="bg2"/>
            </a:solidFill>
            <a:prstDash val="solid"/>
          </a:ln>
        </p:spPr>
      </p:sp>
      <p:sp>
        <p:nvSpPr>
          <p:cNvPr id="4" name="Text 2"/>
          <p:cNvSpPr txBox="1"/>
          <p:nvPr/>
        </p:nvSpPr>
        <p:spPr>
          <a:xfrm>
            <a:off x="749808" y="1764792"/>
            <a:ext cx="283464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Data protection</a:t>
            </a:r>
            <a:endParaRPr lang="en-US" sz="1800" dirty="0"/>
          </a:p>
        </p:txBody>
      </p:sp>
      <p:sp>
        <p:nvSpPr>
          <p:cNvPr id="5" name="Text 3"/>
          <p:cNvSpPr txBox="1"/>
          <p:nvPr/>
        </p:nvSpPr>
        <p:spPr>
          <a:xfrm>
            <a:off x="749808" y="2194560"/>
            <a:ext cx="2834640" cy="1463040"/>
          </a:xfrm>
          <a:prstGeom prst="rect">
            <a:avLst/>
          </a:prstGeom>
          <a:noFill/>
          <a:ln/>
        </p:spPr>
        <p:txBody>
          <a:bodyPr wrap="square" lIns="0" tIns="0" rIns="0" bIns="0" rtlCol="0" anchor="t"/>
          <a:lstStyle/>
          <a:p>
            <a:pPr indent="0" marL="0">
              <a:buNone/>
            </a:pPr>
            <a:r>
              <a:rPr lang="en-US" sz="1400" dirty="0">
                <a:solidFill>
                  <a:schemeClr val="tx1"/>
                </a:solidFill>
                <a:latin typeface="+mn-lt" pitchFamily="34" charset="0"/>
                <a:ea typeface="+mn-lt" pitchFamily="34" charset="-122"/>
                <a:cs typeface="+mn-lt" pitchFamily="34" charset="-120"/>
              </a:rPr>
              <a:t>The AI receives only the question, field names and filters. The question text still leaves the bank, so production needs vendor, data-residency and retention approval.</a:t>
            </a:r>
            <a:endParaRPr lang="en-US" sz="1400" dirty="0"/>
          </a:p>
        </p:txBody>
      </p:sp>
      <p:sp>
        <p:nvSpPr>
          <p:cNvPr id="6" name="control-2"/>
          <p:cNvSpPr/>
          <p:nvPr/>
        </p:nvSpPr>
        <p:spPr>
          <a:xfrm>
            <a:off x="3977640" y="1600200"/>
            <a:ext cx="3246120" cy="2148840"/>
          </a:xfrm>
          <a:prstGeom prst="roundRect">
            <a:avLst>
              <a:gd name="adj" fmla="val 4255"/>
            </a:avLst>
          </a:prstGeom>
          <a:solidFill>
            <a:schemeClr val="bg2"/>
          </a:solidFill>
          <a:ln w="9525">
            <a:solidFill>
              <a:schemeClr val="bg2"/>
            </a:solidFill>
            <a:prstDash val="solid"/>
          </a:ln>
        </p:spPr>
      </p:sp>
      <p:sp>
        <p:nvSpPr>
          <p:cNvPr id="7" name="Text 5"/>
          <p:cNvSpPr txBox="1"/>
          <p:nvPr/>
        </p:nvSpPr>
        <p:spPr>
          <a:xfrm>
            <a:off x="4178808" y="1764792"/>
            <a:ext cx="283464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Fairness</a:t>
            </a:r>
            <a:endParaRPr lang="en-US" sz="1800" dirty="0"/>
          </a:p>
        </p:txBody>
      </p:sp>
      <p:sp>
        <p:nvSpPr>
          <p:cNvPr id="8" name="Text 6"/>
          <p:cNvSpPr txBox="1"/>
          <p:nvPr/>
        </p:nvSpPr>
        <p:spPr>
          <a:xfrm>
            <a:off x="4178808" y="2194560"/>
            <a:ext cx="2834640" cy="1463040"/>
          </a:xfrm>
          <a:prstGeom prst="rect">
            <a:avLst/>
          </a:prstGeom>
          <a:noFill/>
          <a:ln/>
        </p:spPr>
        <p:txBody>
          <a:bodyPr wrap="square" lIns="0" tIns="0" rIns="0" bIns="0" rtlCol="0" anchor="t"/>
          <a:lstStyle/>
          <a:p>
            <a:pPr indent="0" marL="0">
              <a:buNone/>
            </a:pPr>
            <a:r>
              <a:rPr lang="en-US" sz="1400" dirty="0">
                <a:solidFill>
                  <a:schemeClr val="tx1"/>
                </a:solidFill>
                <a:latin typeface="+mn-lt" pitchFamily="34" charset="0"/>
                <a:ea typeface="+mn-lt" pitchFamily="34" charset="-122"/>
                <a:cs typeface="+mn-lt" pitchFamily="34" charset="-120"/>
              </a:rPr>
              <a:t>Gender is excluded from the model. Test AUC is similar for women (0.671) and men (0.682); a full fairness review is still needed.</a:t>
            </a:r>
            <a:endParaRPr lang="en-US" sz="1400" dirty="0"/>
          </a:p>
        </p:txBody>
      </p:sp>
      <p:sp>
        <p:nvSpPr>
          <p:cNvPr id="9" name="control-3"/>
          <p:cNvSpPr/>
          <p:nvPr/>
        </p:nvSpPr>
        <p:spPr>
          <a:xfrm>
            <a:off x="548640" y="3886200"/>
            <a:ext cx="3246120" cy="2148840"/>
          </a:xfrm>
          <a:prstGeom prst="roundRect">
            <a:avLst>
              <a:gd name="adj" fmla="val 4255"/>
            </a:avLst>
          </a:prstGeom>
          <a:solidFill>
            <a:schemeClr val="bg2"/>
          </a:solidFill>
          <a:ln w="9525">
            <a:solidFill>
              <a:schemeClr val="bg2"/>
            </a:solidFill>
            <a:prstDash val="solid"/>
          </a:ln>
        </p:spPr>
      </p:sp>
      <p:sp>
        <p:nvSpPr>
          <p:cNvPr id="10" name="Text 8"/>
          <p:cNvSpPr txBox="1"/>
          <p:nvPr/>
        </p:nvSpPr>
        <p:spPr>
          <a:xfrm>
            <a:off x="749808" y="4050792"/>
            <a:ext cx="283464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Human review</a:t>
            </a:r>
            <a:endParaRPr lang="en-US" sz="1800" dirty="0"/>
          </a:p>
        </p:txBody>
      </p:sp>
      <p:sp>
        <p:nvSpPr>
          <p:cNvPr id="11" name="Text 9"/>
          <p:cNvSpPr txBox="1"/>
          <p:nvPr/>
        </p:nvSpPr>
        <p:spPr>
          <a:xfrm>
            <a:off x="749808" y="4480560"/>
            <a:ext cx="2834640" cy="1463040"/>
          </a:xfrm>
          <a:prstGeom prst="rect">
            <a:avLst/>
          </a:prstGeom>
          <a:noFill/>
          <a:ln/>
        </p:spPr>
        <p:txBody>
          <a:bodyPr wrap="square" lIns="0" tIns="0" rIns="0" bIns="0" rtlCol="0" anchor="t"/>
          <a:lstStyle/>
          <a:p>
            <a:pPr indent="0" marL="0">
              <a:buNone/>
            </a:pPr>
            <a:r>
              <a:rPr lang="en-US" sz="1400" dirty="0">
                <a:solidFill>
                  <a:schemeClr val="tx1"/>
                </a:solidFill>
                <a:latin typeface="+mn-lt" pitchFamily="34" charset="0"/>
                <a:ea typeface="+mn-lt" pitchFamily="34" charset="-122"/>
                <a:cs typeface="+mn-lt" pitchFamily="34" charset="-120"/>
              </a:rPr>
              <a:t>Scores rank loans for review; they never approve or decline. Every score shows its top three reasons.</a:t>
            </a:r>
            <a:endParaRPr lang="en-US" sz="1400" dirty="0"/>
          </a:p>
        </p:txBody>
      </p:sp>
      <p:sp>
        <p:nvSpPr>
          <p:cNvPr id="12" name="control-4"/>
          <p:cNvSpPr/>
          <p:nvPr/>
        </p:nvSpPr>
        <p:spPr>
          <a:xfrm>
            <a:off x="3977640" y="3886200"/>
            <a:ext cx="3246120" cy="2148840"/>
          </a:xfrm>
          <a:prstGeom prst="roundRect">
            <a:avLst>
              <a:gd name="adj" fmla="val 4255"/>
            </a:avLst>
          </a:prstGeom>
          <a:solidFill>
            <a:schemeClr val="bg2"/>
          </a:solidFill>
          <a:ln w="9525">
            <a:solidFill>
              <a:schemeClr val="bg2"/>
            </a:solidFill>
            <a:prstDash val="solid"/>
          </a:ln>
        </p:spPr>
      </p:sp>
      <p:sp>
        <p:nvSpPr>
          <p:cNvPr id="13" name="Text 11"/>
          <p:cNvSpPr txBox="1"/>
          <p:nvPr/>
        </p:nvSpPr>
        <p:spPr>
          <a:xfrm>
            <a:off x="4178808" y="4050792"/>
            <a:ext cx="2834640"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Audit trail</a:t>
            </a:r>
            <a:endParaRPr lang="en-US" sz="1800" dirty="0"/>
          </a:p>
        </p:txBody>
      </p:sp>
      <p:sp>
        <p:nvSpPr>
          <p:cNvPr id="14" name="Text 12"/>
          <p:cNvSpPr txBox="1"/>
          <p:nvPr/>
        </p:nvSpPr>
        <p:spPr>
          <a:xfrm>
            <a:off x="4178808" y="4480560"/>
            <a:ext cx="2834640" cy="1463040"/>
          </a:xfrm>
          <a:prstGeom prst="rect">
            <a:avLst/>
          </a:prstGeom>
          <a:noFill/>
          <a:ln/>
        </p:spPr>
        <p:txBody>
          <a:bodyPr wrap="square" lIns="0" tIns="0" rIns="0" bIns="0" rtlCol="0" anchor="t"/>
          <a:lstStyle/>
          <a:p>
            <a:pPr indent="0" marL="0">
              <a:buNone/>
            </a:pPr>
            <a:r>
              <a:rPr lang="en-US" sz="1400" dirty="0">
                <a:solidFill>
                  <a:schemeClr val="tx1"/>
                </a:solidFill>
                <a:latin typeface="+mn-lt" pitchFamily="34" charset="0"/>
                <a:ea typeface="+mn-lt" pitchFamily="34" charset="-122"/>
                <a:cs typeface="+mn-lt" pitchFamily="34" charset="-120"/>
              </a:rPr>
              <a:t>Every cleaning step is logged, 39 automated tests guard the pipeline, and each AI query is logged without its text or any key.</a:t>
            </a:r>
            <a:endParaRPr lang="en-US" sz="1400" dirty="0"/>
          </a:p>
        </p:txBody>
      </p:sp>
      <p:sp>
        <p:nvSpPr>
          <p:cNvPr id="15" name="monitoring"/>
          <p:cNvSpPr/>
          <p:nvPr/>
        </p:nvSpPr>
        <p:spPr>
          <a:xfrm>
            <a:off x="7498080" y="1600200"/>
            <a:ext cx="4142232" cy="4434840"/>
          </a:xfrm>
          <a:prstGeom prst="roundRect">
            <a:avLst>
              <a:gd name="adj" fmla="val 2208"/>
            </a:avLst>
          </a:prstGeom>
          <a:solidFill>
            <a:schemeClr val="tx2"/>
          </a:solidFill>
          <a:ln w="9525">
            <a:solidFill>
              <a:schemeClr val="tx2"/>
            </a:solidFill>
            <a:prstDash val="solid"/>
          </a:ln>
        </p:spPr>
      </p:sp>
      <p:sp>
        <p:nvSpPr>
          <p:cNvPr id="16" name="Text 14"/>
          <p:cNvSpPr txBox="1"/>
          <p:nvPr/>
        </p:nvSpPr>
        <p:spPr>
          <a:xfrm>
            <a:off x="7726680" y="1764792"/>
            <a:ext cx="3749040" cy="36576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Monitoring plan (proposed)</a:t>
            </a:r>
            <a:endParaRPr lang="en-US" sz="1800" dirty="0"/>
          </a:p>
        </p:txBody>
      </p:sp>
      <p:sp>
        <p:nvSpPr>
          <p:cNvPr id="17" name="Text 15"/>
          <p:cNvSpPr txBox="1"/>
          <p:nvPr/>
        </p:nvSpPr>
        <p:spPr>
          <a:xfrm>
            <a:off x="7726680" y="2240280"/>
            <a:ext cx="3749040" cy="3703320"/>
          </a:xfrm>
          <a:prstGeom prst="rect">
            <a:avLst/>
          </a:prstGeom>
          <a:noFill/>
          <a:ln/>
        </p:spPr>
        <p:txBody>
          <a:bodyPr wrap="square" lIns="0" tIns="0" rIns="0" bIns="0" rtlCol="0" anchor="t"/>
          <a:lstStyle/>
          <a:p>
            <a:pPr indent="0" marL="0">
              <a:buNone/>
            </a:pPr>
            <a:r>
              <a:rPr lang="en-US" sz="1400" b="1" dirty="0">
                <a:solidFill>
                  <a:schemeClr val="bg1"/>
                </a:solidFill>
                <a:latin typeface="+mn-lt" pitchFamily="34" charset="0"/>
                <a:ea typeface="+mn-lt" pitchFamily="34" charset="-122"/>
                <a:cs typeface="+mn-lt" pitchFamily="34" charset="-120"/>
              </a:rPr>
              <a:t>Monthly</a:t>
            </a:r>
            <a:endParaRPr lang="en-US" sz="1400" dirty="0"/>
          </a:p>
          <a:p>
            <a:pPr indent="0" marL="0">
              <a:buNone/>
            </a:pPr>
            <a:r>
              <a:rPr lang="en-US" sz="1400" dirty="0">
                <a:solidFill>
                  <a:schemeClr val="accent6"/>
                </a:solidFill>
                <a:latin typeface="+mn-lt" pitchFamily="34" charset="0"/>
                <a:ea typeface="+mn-lt" pitchFamily="34" charset="-122"/>
                <a:cs typeface="+mn-lt" pitchFamily="34" charset="-120"/>
              </a:rPr>
              <a:t>Score PSI and feature CSI against the training reference: investigate at 0.10, act at 0.25. Today's train-vs-test score PSI is 0.004.</a:t>
            </a:r>
            <a:endParaRPr lang="en-US" sz="1400" dirty="0"/>
          </a:p>
          <a:p>
            <a:pPr indent="0" marL="0">
              <a:buNone/>
            </a:pPr>
            <a:r>
              <a:rPr lang="en-US" sz="600" dirty="0">
                <a:solidFill>
                  <a:schemeClr val="tx1"/>
                </a:solidFill>
                <a:latin typeface="+mn-lt" pitchFamily="34" charset="0"/>
                <a:ea typeface="+mn-lt" pitchFamily="34" charset="-122"/>
                <a:cs typeface="+mn-lt" pitchFamily="34" charset="-120"/>
              </a:rPr>
              <a:t> </a:t>
            </a:r>
            <a:endParaRPr lang="en-US" sz="1400" dirty="0"/>
          </a:p>
          <a:p>
            <a:pPr indent="0" marL="0">
              <a:buNone/>
            </a:pPr>
            <a:r>
              <a:rPr lang="en-US" sz="1400" b="1" dirty="0">
                <a:solidFill>
                  <a:schemeClr val="bg1"/>
                </a:solidFill>
                <a:latin typeface="+mn-lt" pitchFamily="34" charset="0"/>
                <a:ea typeface="+mn-lt" pitchFamily="34" charset="-122"/>
                <a:cs typeface="+mn-lt" pitchFamily="34" charset="-120"/>
              </a:rPr>
              <a:t>Quarterly</a:t>
            </a:r>
            <a:endParaRPr lang="en-US" sz="1400" dirty="0"/>
          </a:p>
          <a:p>
            <a:pPr indent="0" marL="0">
              <a:buNone/>
            </a:pPr>
            <a:r>
              <a:rPr lang="en-US" sz="1400" dirty="0">
                <a:solidFill>
                  <a:schemeClr val="accent6"/>
                </a:solidFill>
                <a:latin typeface="+mn-lt" pitchFamily="34" charset="0"/>
                <a:ea typeface="+mn-lt" pitchFamily="34" charset="-122"/>
                <a:cs typeface="+mn-lt" pitchFamily="34" charset="-120"/>
              </a:rPr>
              <a:t>Cohort default rate and 30+ days past due against the control limits.</a:t>
            </a:r>
            <a:endParaRPr lang="en-US" sz="1400" dirty="0"/>
          </a:p>
          <a:p>
            <a:pPr indent="0" marL="0">
              <a:buNone/>
            </a:pPr>
            <a:r>
              <a:rPr lang="en-US" sz="600" dirty="0">
                <a:solidFill>
                  <a:schemeClr val="tx1"/>
                </a:solidFill>
                <a:latin typeface="+mn-lt" pitchFamily="34" charset="0"/>
                <a:ea typeface="+mn-lt" pitchFamily="34" charset="-122"/>
                <a:cs typeface="+mn-lt" pitchFamily="34" charset="-120"/>
              </a:rPr>
              <a:t> </a:t>
            </a:r>
            <a:endParaRPr lang="en-US" sz="1400" dirty="0"/>
          </a:p>
          <a:p>
            <a:pPr indent="0" marL="0">
              <a:buNone/>
            </a:pPr>
            <a:r>
              <a:rPr lang="en-US" sz="1400" b="1" dirty="0">
                <a:solidFill>
                  <a:schemeClr val="bg1"/>
                </a:solidFill>
                <a:latin typeface="+mn-lt" pitchFamily="34" charset="0"/>
                <a:ea typeface="+mn-lt" pitchFamily="34" charset="-122"/>
                <a:cs typeface="+mn-lt" pitchFamily="34" charset="-120"/>
              </a:rPr>
              <a:t>Annually, or on an alert</a:t>
            </a:r>
            <a:endParaRPr lang="en-US" sz="1400" dirty="0"/>
          </a:p>
          <a:p>
            <a:pPr indent="0" marL="0">
              <a:buNone/>
            </a:pPr>
            <a:r>
              <a:rPr lang="en-US" sz="1400" dirty="0">
                <a:solidFill>
                  <a:schemeClr val="accent6"/>
                </a:solidFill>
                <a:latin typeface="+mn-lt" pitchFamily="34" charset="0"/>
                <a:ea typeface="+mn-lt" pitchFamily="34" charset="-122"/>
                <a:cs typeface="+mn-lt" pitchFamily="34" charset="-120"/>
              </a:rPr>
              <a:t>Retrain on matured outcomes with out-of-time validation and approval. Drift alone never triggers automatic retraining.</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bg1"/>
                </a:solidFill>
              </a:rPr>
              <a:t>To move from demo to pilot, we need four things and three decisions</a:t>
            </a:r>
            <a:endParaRPr lang="en-US" sz="3600" dirty="0"/>
          </a:p>
        </p:txBody>
      </p:sp>
      <p:sp>
        <p:nvSpPr>
          <p:cNvPr id="3" name="Text 1"/>
          <p:cNvSpPr txBox="1"/>
          <p:nvPr/>
        </p:nvSpPr>
        <p:spPr>
          <a:xfrm>
            <a:off x="548640" y="1645920"/>
            <a:ext cx="5394960" cy="41148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What we need from IT and data</a:t>
            </a:r>
            <a:endParaRPr lang="en-US" sz="2200" dirty="0"/>
          </a:p>
        </p:txBody>
      </p:sp>
      <p:sp>
        <p:nvSpPr>
          <p:cNvPr id="4" name="Text 2"/>
          <p:cNvSpPr txBox="1"/>
          <p:nvPr/>
        </p:nvSpPr>
        <p:spPr>
          <a:xfrm>
            <a:off x="548640" y="2194560"/>
            <a:ext cx="53949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700" dirty="0">
                <a:solidFill>
                  <a:schemeClr val="accent6"/>
                </a:solidFill>
                <a:latin typeface="+mn-lt" pitchFamily="34" charset="0"/>
                <a:ea typeface="+mn-lt" pitchFamily="34" charset="-122"/>
                <a:cs typeface="+mn-lt" pitchFamily="34" charset="-120"/>
              </a:rPr>
              <a:t>Default definition and default dates, with a fixed outcome window</a:t>
            </a:r>
            <a:endParaRPr lang="en-US" sz="1700" dirty="0"/>
          </a:p>
          <a:p>
            <a:pPr marL="342900" indent="-342900">
              <a:spcAft>
                <a:spcPts val="1200"/>
              </a:spcAft>
              <a:buSzPct val="100000"/>
              <a:buFont typeface="+mj-lt"/>
              <a:buAutoNum type="arabicPeriod" startAt="1"/>
            </a:pPr>
            <a:r>
              <a:rPr lang="en-US" sz="1700" dirty="0">
                <a:solidFill>
                  <a:schemeClr val="accent6"/>
                </a:solidFill>
                <a:latin typeface="+mn-lt" pitchFamily="34" charset="0"/>
                <a:ea typeface="+mn-lt" pitchFamily="34" charset="-122"/>
                <a:cs typeface="+mn-lt" pitchFamily="34" charset="-120"/>
              </a:rPr>
              <a:t>Bureau pull dates and point-in-time payment history</a:t>
            </a:r>
            <a:endParaRPr lang="en-US" sz="1700" dirty="0"/>
          </a:p>
          <a:p>
            <a:pPr marL="342900" indent="-342900">
              <a:spcAft>
                <a:spcPts val="1200"/>
              </a:spcAft>
              <a:buSzPct val="100000"/>
              <a:buFont typeface="+mj-lt"/>
              <a:buAutoNum type="arabicPeriod" startAt="1"/>
            </a:pPr>
            <a:r>
              <a:rPr lang="en-US" sz="1700" dirty="0">
                <a:solidFill>
                  <a:schemeClr val="accent6"/>
                </a:solidFill>
                <a:latin typeface="+mn-lt" pitchFamily="34" charset="0"/>
                <a:ea typeface="+mn-lt" pitchFamily="34" charset="-122"/>
                <a:cs typeface="+mn-lt" pitchFamily="34" charset="-120"/>
              </a:rPr>
              <a:t>Two years of matured outcomes for out-of-time validation</a:t>
            </a:r>
            <a:endParaRPr lang="en-US" sz="1700" dirty="0"/>
          </a:p>
          <a:p>
            <a:pPr marL="342900" indent="-342900">
              <a:spcAft>
                <a:spcPts val="1200"/>
              </a:spcAft>
              <a:buSzPct val="100000"/>
              <a:buFont typeface="+mj-lt"/>
              <a:buAutoNum type="arabicPeriod" startAt="1"/>
            </a:pPr>
            <a:r>
              <a:rPr lang="en-US" sz="1700" dirty="0">
                <a:solidFill>
                  <a:schemeClr val="accent6"/>
                </a:solidFill>
                <a:latin typeface="+mn-lt" pitchFamily="34" charset="0"/>
                <a:ea typeface="+mn-lt" pitchFamily="34" charset="-122"/>
                <a:cs typeface="+mn-lt" pitchFamily="34" charset="-120"/>
              </a:rPr>
              <a:t>Single sign-on, role-based access and vendor approval for the assistant</a:t>
            </a:r>
            <a:endParaRPr lang="en-US" sz="1700" dirty="0"/>
          </a:p>
        </p:txBody>
      </p:sp>
      <p:sp>
        <p:nvSpPr>
          <p:cNvPr id="5" name="Text 3"/>
          <p:cNvSpPr txBox="1"/>
          <p:nvPr/>
        </p:nvSpPr>
        <p:spPr>
          <a:xfrm>
            <a:off x="6245352" y="1645920"/>
            <a:ext cx="5394960" cy="41148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Decisions today</a:t>
            </a:r>
            <a:endParaRPr lang="en-US" sz="2200" dirty="0"/>
          </a:p>
        </p:txBody>
      </p:sp>
      <p:sp>
        <p:nvSpPr>
          <p:cNvPr id="6" name="decision-1"/>
          <p:cNvSpPr/>
          <p:nvPr/>
        </p:nvSpPr>
        <p:spPr>
          <a:xfrm>
            <a:off x="6245352" y="2194560"/>
            <a:ext cx="5394960" cy="914400"/>
          </a:xfrm>
          <a:prstGeom prst="roundRect">
            <a:avLst>
              <a:gd name="adj" fmla="val 10000"/>
            </a:avLst>
          </a:prstGeom>
          <a:solidFill>
            <a:schemeClr val="bg1">
              <a:alpha val="12000"/>
            </a:schemeClr>
          </a:solidFill>
          <a:ln w="9525">
            <a:solidFill>
              <a:schemeClr val="accent6"/>
            </a:solidFill>
            <a:prstDash val="solid"/>
          </a:ln>
        </p:spPr>
      </p:sp>
      <p:sp>
        <p:nvSpPr>
          <p:cNvPr id="7" name="Text 5"/>
          <p:cNvSpPr txBox="1"/>
          <p:nvPr/>
        </p:nvSpPr>
        <p:spPr>
          <a:xfrm>
            <a:off x="6446520" y="2350008"/>
            <a:ext cx="457200" cy="594360"/>
          </a:xfrm>
          <a:prstGeom prst="rect">
            <a:avLst/>
          </a:prstGeom>
          <a:noFill/>
          <a:ln/>
        </p:spPr>
        <p:txBody>
          <a:bodyPr wrap="square" lIns="0" tIns="0" rIns="0" bIns="0" rtlCol="0" anchor="ctr"/>
          <a:lstStyle/>
          <a:p>
            <a:pPr indent="0" marL="0">
              <a:buNone/>
            </a:pPr>
            <a:r>
              <a:rPr lang="en-US" sz="3000" b="1" dirty="0">
                <a:solidFill>
                  <a:schemeClr val="accent6"/>
                </a:solidFill>
                <a:latin typeface="+mj-lt" pitchFamily="34" charset="0"/>
                <a:ea typeface="+mj-lt" pitchFamily="34" charset="-122"/>
                <a:cs typeface="+mj-lt" pitchFamily="34" charset="-120"/>
              </a:rPr>
              <a:t>1</a:t>
            </a:r>
            <a:endParaRPr lang="en-US" sz="3000" dirty="0"/>
          </a:p>
        </p:txBody>
      </p:sp>
      <p:sp>
        <p:nvSpPr>
          <p:cNvPr id="8" name="Text 6"/>
          <p:cNvSpPr txBox="1"/>
          <p:nvPr/>
        </p:nvSpPr>
        <p:spPr>
          <a:xfrm>
            <a:off x="6995160" y="2304288"/>
            <a:ext cx="4480560" cy="694944"/>
          </a:xfrm>
          <a:prstGeom prst="rect">
            <a:avLst/>
          </a:prstGeom>
          <a:noFill/>
          <a:ln/>
        </p:spPr>
        <p:txBody>
          <a:bodyPr wrap="square" lIns="0" tIns="0" rIns="0" bIns="0" rtlCol="0" anchor="ctr"/>
          <a:lstStyle/>
          <a:p>
            <a:pPr indent="0" marL="0">
              <a:buNone/>
            </a:pPr>
            <a:r>
              <a:rPr lang="en-US" sz="1700" dirty="0">
                <a:solidFill>
                  <a:schemeClr val="bg1"/>
                </a:solidFill>
                <a:latin typeface="+mn-lt" pitchFamily="34" charset="0"/>
                <a:ea typeface="+mn-lt" pitchFamily="34" charset="-122"/>
                <a:cs typeface="+mn-lt" pitchFamily="34" charset="-120"/>
              </a:rPr>
              <a:t>Approve a supervised pilot on historical bank data</a:t>
            </a:r>
            <a:endParaRPr lang="en-US" sz="1700" dirty="0"/>
          </a:p>
        </p:txBody>
      </p:sp>
      <p:sp>
        <p:nvSpPr>
          <p:cNvPr id="9" name="decision-2"/>
          <p:cNvSpPr/>
          <p:nvPr/>
        </p:nvSpPr>
        <p:spPr>
          <a:xfrm>
            <a:off x="6245352" y="3291840"/>
            <a:ext cx="5394960" cy="914400"/>
          </a:xfrm>
          <a:prstGeom prst="roundRect">
            <a:avLst>
              <a:gd name="adj" fmla="val 10000"/>
            </a:avLst>
          </a:prstGeom>
          <a:solidFill>
            <a:schemeClr val="bg1">
              <a:alpha val="12000"/>
            </a:schemeClr>
          </a:solidFill>
          <a:ln w="9525">
            <a:solidFill>
              <a:schemeClr val="accent6"/>
            </a:solidFill>
            <a:prstDash val="solid"/>
          </a:ln>
        </p:spPr>
      </p:sp>
      <p:sp>
        <p:nvSpPr>
          <p:cNvPr id="10" name="Text 8"/>
          <p:cNvSpPr txBox="1"/>
          <p:nvPr/>
        </p:nvSpPr>
        <p:spPr>
          <a:xfrm>
            <a:off x="6446520" y="3447288"/>
            <a:ext cx="457200" cy="594360"/>
          </a:xfrm>
          <a:prstGeom prst="rect">
            <a:avLst/>
          </a:prstGeom>
          <a:noFill/>
          <a:ln/>
        </p:spPr>
        <p:txBody>
          <a:bodyPr wrap="square" lIns="0" tIns="0" rIns="0" bIns="0" rtlCol="0" anchor="ctr"/>
          <a:lstStyle/>
          <a:p>
            <a:pPr indent="0" marL="0">
              <a:buNone/>
            </a:pPr>
            <a:r>
              <a:rPr lang="en-US" sz="3000" b="1" dirty="0">
                <a:solidFill>
                  <a:schemeClr val="accent6"/>
                </a:solidFill>
                <a:latin typeface="+mj-lt" pitchFamily="34" charset="0"/>
                <a:ea typeface="+mj-lt" pitchFamily="34" charset="-122"/>
                <a:cs typeface="+mj-lt" pitchFamily="34" charset="-120"/>
              </a:rPr>
              <a:t>2</a:t>
            </a:r>
            <a:endParaRPr lang="en-US" sz="3000" dirty="0"/>
          </a:p>
        </p:txBody>
      </p:sp>
      <p:sp>
        <p:nvSpPr>
          <p:cNvPr id="11" name="Text 9"/>
          <p:cNvSpPr txBox="1"/>
          <p:nvPr/>
        </p:nvSpPr>
        <p:spPr>
          <a:xfrm>
            <a:off x="6995160" y="3401568"/>
            <a:ext cx="4480560" cy="694944"/>
          </a:xfrm>
          <a:prstGeom prst="rect">
            <a:avLst/>
          </a:prstGeom>
          <a:noFill/>
          <a:ln/>
        </p:spPr>
        <p:txBody>
          <a:bodyPr wrap="square" lIns="0" tIns="0" rIns="0" bIns="0" rtlCol="0" anchor="ctr"/>
          <a:lstStyle/>
          <a:p>
            <a:pPr indent="0" marL="0">
              <a:buNone/>
            </a:pPr>
            <a:r>
              <a:rPr lang="en-US" sz="1700" dirty="0">
                <a:solidFill>
                  <a:schemeClr val="bg1"/>
                </a:solidFill>
                <a:latin typeface="+mn-lt" pitchFamily="34" charset="0"/>
                <a:ea typeface="+mn-lt" pitchFamily="34" charset="-122"/>
                <a:cs typeface="+mn-lt" pitchFamily="34" charset="-120"/>
              </a:rPr>
              <a:t>Commission an independent model validation</a:t>
            </a:r>
            <a:endParaRPr lang="en-US" sz="1700" dirty="0"/>
          </a:p>
        </p:txBody>
      </p:sp>
      <p:sp>
        <p:nvSpPr>
          <p:cNvPr id="12" name="decision-3"/>
          <p:cNvSpPr/>
          <p:nvPr/>
        </p:nvSpPr>
        <p:spPr>
          <a:xfrm>
            <a:off x="6245352" y="4389120"/>
            <a:ext cx="5394960" cy="914400"/>
          </a:xfrm>
          <a:prstGeom prst="roundRect">
            <a:avLst>
              <a:gd name="adj" fmla="val 10000"/>
            </a:avLst>
          </a:prstGeom>
          <a:solidFill>
            <a:schemeClr val="bg1">
              <a:alpha val="12000"/>
            </a:schemeClr>
          </a:solidFill>
          <a:ln w="9525">
            <a:solidFill>
              <a:schemeClr val="accent6"/>
            </a:solidFill>
            <a:prstDash val="solid"/>
          </a:ln>
        </p:spPr>
      </p:sp>
      <p:sp>
        <p:nvSpPr>
          <p:cNvPr id="13" name="Text 11"/>
          <p:cNvSpPr txBox="1"/>
          <p:nvPr/>
        </p:nvSpPr>
        <p:spPr>
          <a:xfrm>
            <a:off x="6446520" y="4544568"/>
            <a:ext cx="457200" cy="594360"/>
          </a:xfrm>
          <a:prstGeom prst="rect">
            <a:avLst/>
          </a:prstGeom>
          <a:noFill/>
          <a:ln/>
        </p:spPr>
        <p:txBody>
          <a:bodyPr wrap="square" lIns="0" tIns="0" rIns="0" bIns="0" rtlCol="0" anchor="ctr"/>
          <a:lstStyle/>
          <a:p>
            <a:pPr indent="0" marL="0">
              <a:buNone/>
            </a:pPr>
            <a:r>
              <a:rPr lang="en-US" sz="3000" b="1" dirty="0">
                <a:solidFill>
                  <a:schemeClr val="accent6"/>
                </a:solidFill>
                <a:latin typeface="+mj-lt" pitchFamily="34" charset="0"/>
                <a:ea typeface="+mj-lt" pitchFamily="34" charset="-122"/>
                <a:cs typeface="+mj-lt" pitchFamily="34" charset="-120"/>
              </a:rPr>
              <a:t>3</a:t>
            </a:r>
            <a:endParaRPr lang="en-US" sz="3000" dirty="0"/>
          </a:p>
        </p:txBody>
      </p:sp>
      <p:sp>
        <p:nvSpPr>
          <p:cNvPr id="14" name="Text 12"/>
          <p:cNvSpPr txBox="1"/>
          <p:nvPr/>
        </p:nvSpPr>
        <p:spPr>
          <a:xfrm>
            <a:off x="6995160" y="4498848"/>
            <a:ext cx="4480560" cy="694944"/>
          </a:xfrm>
          <a:prstGeom prst="rect">
            <a:avLst/>
          </a:prstGeom>
          <a:noFill/>
          <a:ln/>
        </p:spPr>
        <p:txBody>
          <a:bodyPr wrap="square" lIns="0" tIns="0" rIns="0" bIns="0" rtlCol="0" anchor="ctr"/>
          <a:lstStyle/>
          <a:p>
            <a:pPr indent="0" marL="0">
              <a:buNone/>
            </a:pPr>
            <a:r>
              <a:rPr lang="en-US" sz="1700" dirty="0">
                <a:solidFill>
                  <a:schemeClr val="bg1"/>
                </a:solidFill>
                <a:latin typeface="+mn-lt" pitchFamily="34" charset="0"/>
                <a:ea typeface="+mn-lt" pitchFamily="34" charset="-122"/>
                <a:cs typeface="+mn-lt" pitchFamily="34" charset="-120"/>
              </a:rPr>
              <a:t>Start the vendor-risk and data-residency review for the assistant</a:t>
            </a:r>
            <a:endParaRPr lang="en-US" sz="1700" dirty="0"/>
          </a:p>
        </p:txBody>
      </p:sp>
      <p:sp>
        <p:nvSpPr>
          <p:cNvPr id="15" name="Text 13"/>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300" dirty="0">
                <a:solidFill>
                  <a:schemeClr val="accent6"/>
                </a:solidFill>
                <a:latin typeface="+mn-lt" pitchFamily="34" charset="0"/>
                <a:ea typeface="+mn-lt" pitchFamily="34" charset="-122"/>
                <a:cs typeface="+mn-lt" pitchFamily="34" charset="-120"/>
              </a:rPr>
              <a:t>Appendix: profiles by age, employment and region · full assumptions log · data-quality treatment</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3D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Appendix: age and employment separate risk; region barely moves it</a:t>
            </a:r>
            <a:endParaRPr lang="en-US" sz="3600" dirty="0"/>
          </a:p>
        </p:txBody>
      </p:sp>
      <p:sp>
        <p:nvSpPr>
          <p:cNvPr id="3" name="Text 1"/>
          <p:cNvSpPr txBox="1"/>
          <p:nvPr/>
        </p:nvSpPr>
        <p:spPr>
          <a:xfrm>
            <a:off x="548640" y="1600200"/>
            <a:ext cx="3484778"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Default rate by age</a:t>
            </a:r>
            <a:endParaRPr lang="en-US" sz="1800" dirty="0"/>
          </a:p>
        </p:txBody>
      </p:sp>
      <p:graphicFrame>
        <p:nvGraphicFramePr>
          <p:cNvPr id="4" name="chart-appendix-1" descr=""/>
          <p:cNvGraphicFramePr/>
          <p:nvPr/>
        </p:nvGraphicFramePr>
        <p:xfrm>
          <a:off x="548640" y="2011680"/>
          <a:ext cx="3484778"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353458" y="1600200"/>
            <a:ext cx="3484778"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Default rate by employment</a:t>
            </a:r>
            <a:endParaRPr lang="en-US" sz="1800" dirty="0"/>
          </a:p>
        </p:txBody>
      </p:sp>
      <p:graphicFrame>
        <p:nvGraphicFramePr>
          <p:cNvPr id="6" name="chart-appendix-2" descr=""/>
          <p:cNvGraphicFramePr/>
          <p:nvPr/>
        </p:nvGraphicFramePr>
        <p:xfrm>
          <a:off x="4353458" y="2011680"/>
          <a:ext cx="3484778" cy="393192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8158277" y="1600200"/>
            <a:ext cx="3484778" cy="36576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Default rate by region</a:t>
            </a:r>
            <a:endParaRPr lang="en-US" sz="1800" dirty="0"/>
          </a:p>
        </p:txBody>
      </p:sp>
      <p:graphicFrame>
        <p:nvGraphicFramePr>
          <p:cNvPr id="8" name="chart-appendix-3" descr=""/>
          <p:cNvGraphicFramePr/>
          <p:nvPr/>
        </p:nvGraphicFramePr>
        <p:xfrm>
          <a:off x="8158277" y="2011680"/>
          <a:ext cx="3484778" cy="3931920"/>
        </p:xfrm>
        <a:graphic xmlns:a="http://schemas.openxmlformats.org/drawingml/2006/main">
          <a:graphicData uri="http://schemas.openxmlformats.org/drawingml/2006/chart">
            <c:chart xmlns:c="http://schemas.openxmlformats.org/drawingml/2006/chart" r:id="rId3"/>
          </a:graphicData>
        </a:graphic>
      </p:graphicFrame>
      <p:sp>
        <p:nvSpPr>
          <p:cNvPr id="9" name="Text 4"/>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00" dirty="0">
                <a:solidFill>
                  <a:schemeClr val="accent3"/>
                </a:solidFill>
                <a:latin typeface="+mn-lt" pitchFamily="34" charset="0"/>
                <a:ea typeface="+mn-lt" pitchFamily="34" charset="-122"/>
                <a:cs typeface="+mn-lt" pitchFamily="34" charset="-120"/>
              </a:rPr>
              <a:t>Sources: reports/analytics/age.csv, employment.csv, region.csv.</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Appendix: assumptions log (1 of 3)</a:t>
            </a:r>
            <a:endParaRPr lang="en-US" sz="3600" dirty="0"/>
          </a:p>
        </p:txBody>
      </p:sp>
      <p:graphicFrame>
        <p:nvGraphicFramePr>
          <p:cNvPr id="15" name="assumptions-table-1"/>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143000"/>
                <a:gridCol w="5120640"/>
                <a:gridCol w="822960"/>
                <a:gridCol w="4007815"/>
              </a:tblGrid>
              <a:tr h="0">
                <a:tc>
                  <a:txBody>
                    <a:bodyPr/>
                    <a:lstStyle/>
                    <a:p>
                      <a:pPr indent="0" marL="0">
                        <a:buNone/>
                      </a:pPr>
                      <a:r>
                        <a:rPr lang="en-US" sz="1300" b="1" dirty="0">
                          <a:solidFill>
                            <a:schemeClr val="bg1"/>
                          </a:solidFill>
                          <a:latin typeface="+mn-lt" pitchFamily="34" charset="0"/>
                          <a:ea typeface="+mn-lt" pitchFamily="34" charset="-122"/>
                          <a:cs typeface="+mn-lt" pitchFamily="34" charset="-120"/>
                        </a:rPr>
                        <a:t>Area</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Assumption or approximation</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Impact</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Needed from the bank's IT/data team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Model</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The default label has no event date or outcome window, so scores classify the recorded outcome, not a 12-month forward probability of default.</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b="1" dirty="0">
                          <a:solidFill>
                            <a:schemeClr val="accent2"/>
                          </a:solidFill>
                          <a:latin typeface="+mn-lt" pitchFamily="34" charset="0"/>
                          <a:ea typeface="+mn-lt" pitchFamily="34" charset="-122"/>
                          <a:cs typeface="+mn-lt" pitchFamily="34" charset="-120"/>
                        </a:rPr>
                        <a:t>High</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Default definition (for example 90+ days past due), default dates and a fixed performance window.</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Model</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Bureau timing is unknown: 5,760 lines were opened after the 2023-12-31 reference date and some closures are dated up to 2029.</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b="1" dirty="0">
                          <a:solidFill>
                            <a:schemeClr val="accent2"/>
                          </a:solidFill>
                          <a:latin typeface="+mn-lt" pitchFamily="34" charset="0"/>
                          <a:ea typeface="+mn-lt" pitchFamily="34" charset="-122"/>
                          <a:cs typeface="+mn-lt" pitchFamily="34" charset="-120"/>
                        </a:rPr>
                        <a:t>High</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The bureau pull date for each application, and bureau data as at that date.</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Model</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Repayment features use the same 12-month window as the outcome, so they may overlap it.</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b="1" dirty="0">
                          <a:solidFill>
                            <a:schemeClr val="accent2"/>
                          </a:solidFill>
                          <a:latin typeface="+mn-lt" pitchFamily="34" charset="0"/>
                          <a:ea typeface="+mn-lt" pitchFamily="34" charset="-122"/>
                          <a:cs typeface="+mn-lt" pitchFamily="34" charset="-120"/>
                        </a:rPr>
                        <a:t>High</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Payment history as at each scoring date (point-in-time snapshots).</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Model</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Validation uses a random split that keeps each customer in one partition, not a later time period.</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b="1" dirty="0">
                          <a:solidFill>
                            <a:schemeClr val="accent2"/>
                          </a:solidFill>
                          <a:latin typeface="+mn-lt" pitchFamily="34" charset="0"/>
                          <a:ea typeface="+mn-lt" pitchFamily="34" charset="-122"/>
                          <a:cs typeface="+mn-lt" pitchFamily="34" charset="-120"/>
                        </a:rPr>
                        <a:t>High</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At least two years of matured outcomes for out-of-time validation.</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Data</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Collections data is excluded from the model: it is recorded after delinquency, and 3,875 events are dated before the loan existed.</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Medium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Collections event timestamps from the source system.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Data</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customer_since is unreliable (7,293 loans start before the relationship) and is not used.</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Medium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Corrected relationship start dates.</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bl>
          </a:graphicData>
        </a:graphic>
      </p:graphicFrame>
      <p:sp>
        <p:nvSpPr>
          <p:cNvPr id="4" name="Text 1"/>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00" dirty="0">
                <a:solidFill>
                  <a:schemeClr val="accent3"/>
                </a:solidFill>
                <a:latin typeface="+mn-lt" pitchFamily="34" charset="0"/>
                <a:ea typeface="+mn-lt" pitchFamily="34" charset="-122"/>
                <a:cs typeface="+mn-lt" pitchFamily="34" charset="-120"/>
              </a:rPr>
              <a:t>Full log: docs/ASSUMPTIONS_LOG.md. High-impact rows come first.</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Appendix: assumptions log (2 of 3)</a:t>
            </a:r>
            <a:endParaRPr lang="en-US" sz="3600" dirty="0"/>
          </a:p>
        </p:txBody>
      </p:sp>
      <p:graphicFrame>
        <p:nvGraphicFramePr>
          <p:cNvPr id="16" name="assumptions-table-2"/>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143000"/>
                <a:gridCol w="5120640"/>
                <a:gridCol w="822960"/>
                <a:gridCol w="4007815"/>
              </a:tblGrid>
              <a:tr h="0">
                <a:tc>
                  <a:txBody>
                    <a:bodyPr/>
                    <a:lstStyle/>
                    <a:p>
                      <a:pPr indent="0" marL="0">
                        <a:buNone/>
                      </a:pPr>
                      <a:r>
                        <a:rPr lang="en-US" sz="1300" b="1" dirty="0">
                          <a:solidFill>
                            <a:schemeClr val="bg1"/>
                          </a:solidFill>
                          <a:latin typeface="+mn-lt" pitchFamily="34" charset="0"/>
                          <a:ea typeface="+mn-lt" pitchFamily="34" charset="-122"/>
                          <a:cs typeface="+mn-lt" pitchFamily="34" charset="-120"/>
                        </a:rPr>
                        <a:t>Area</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Assumption or approximation</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Impact</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Needed from the bank's IT/data team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Data</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Years employed is capped at age minus 18 for 1,004 customers (assumes work starts at 18); years at address is capped at age for 5.</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Medium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Employment and address start dates.</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Data</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The 1,008 customers with no bureau record form their own group, not zero debt. Utilisation is left blank for 3,347 loans with no active outside credit.</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Medium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Whether "no record" means no bureau hit or no bureau pull.</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Analytics</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Utilisation shows no link to default here, unlike real portfolios; the data is synthetic and findings are associations, not causes.</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Medium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Production data, to re-test every finding.</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Model</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The review flag covers 20% of loans; risk bands sit at the training median and 80th percentile. Both are demo choices, not lending policy.</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Medium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Review capacity and risk appetite from Credit Policy.</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Model</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Gender is excluded and subgroup results are descriptive; this is not a full fairness audit.</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Medium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Fairness policy, protected-attribute list and legal review.</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AI</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Ask the Portfolio sends only the typed question, field names, filters and at most one loan ID to the Claude API; it runs on the local machine with no login, screens English questions only, and a live call is not yet verified.</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Medium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Single sign-on, role-based access, vendor-risk, data-residency and retention approval, managed API keys.</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bl>
          </a:graphicData>
        </a:graphic>
      </p:graphicFrame>
      <p:sp>
        <p:nvSpPr>
          <p:cNvPr id="4" name="Text 1"/>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00" dirty="0">
                <a:solidFill>
                  <a:schemeClr val="accent3"/>
                </a:solidFill>
                <a:latin typeface="+mn-lt" pitchFamily="34" charset="0"/>
                <a:ea typeface="+mn-lt" pitchFamily="34" charset="-122"/>
                <a:cs typeface="+mn-lt" pitchFamily="34" charset="-120"/>
              </a:rPr>
              <a:t>Full log: docs/ASSUMPTIONS_LOG.md. High-impact rows come first.</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Appendix: assumptions log (3 of 3)</a:t>
            </a:r>
            <a:endParaRPr lang="en-US" sz="3600" dirty="0"/>
          </a:p>
        </p:txBody>
      </p:sp>
      <p:graphicFrame>
        <p:nvGraphicFramePr>
          <p:cNvPr id="17" name="assumptions-table-3"/>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143000"/>
                <a:gridCol w="5120640"/>
                <a:gridCol w="822960"/>
                <a:gridCol w="4007815"/>
              </a:tblGrid>
              <a:tr h="0">
                <a:tc>
                  <a:txBody>
                    <a:bodyPr/>
                    <a:lstStyle/>
                    <a:p>
                      <a:pPr indent="0" marL="0">
                        <a:buNone/>
                      </a:pPr>
                      <a:r>
                        <a:rPr lang="en-US" sz="1300" b="1" dirty="0">
                          <a:solidFill>
                            <a:schemeClr val="bg1"/>
                          </a:solidFill>
                          <a:latin typeface="+mn-lt" pitchFamily="34" charset="0"/>
                          <a:ea typeface="+mn-lt" pitchFamily="34" charset="-122"/>
                          <a:cs typeface="+mn-lt" pitchFamily="34" charset="-120"/>
                        </a:rPr>
                        <a:t>Area</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Assumption or approximation</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Impact</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Needed from the bank's IT/data team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Monitoring</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PSI/CSI tolerances, control limits and retraining cadence are proposed, not approved.</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Medium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Model risk management standards, approved thresholds and an independent validation.</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Data</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Missing tenure for 23 unemployed customers is set to 0, matching all 471 other unemployed customers. Every other blank stays blank, with a flag.</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Low</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Source codes that separate "not provided" from "not applicable".</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Model</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Blanks are filled with the training median plus a "was missing" flag. Mean, KNN, MICE, a random draw and zero-fill all scored within 0.001 AUC.</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Low</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Nothing further; the choice is documented and tested.</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Data</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600 gender labels coded M/F are mapped to Male/Female. 76 incomes at exactly 12,000 look like an upstream floor and are kept.</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Low</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Income verification source and any floors applied upstream.</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Data</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Income is in USD per the data dictionary; the currency of loan amounts is not stated.</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Low</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Currency and units for every monetary field.</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300" dirty="0">
                          <a:solidFill>
                            <a:schemeClr val="tx1"/>
                          </a:solidFill>
                          <a:latin typeface="+mn-lt" pitchFamily="34" charset="0"/>
                          <a:ea typeface="+mn-lt" pitchFamily="34" charset="-122"/>
                          <a:cs typeface="+mn-lt" pitchFamily="34" charset="-120"/>
                        </a:rPr>
                        <a:t>Analytics</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A repayment's calendar month is taken as the origination month plus its instalment number.</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Low</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Actual payment due dates.</a:t>
                      </a:r>
                      <a:endParaRPr lang="en-US" sz="1300" dirty="0">
                        <a:latin typeface="+mn-lt" charset="0"/>
                        <a:ea typeface="+mn-lt" charset="0"/>
                        <a:cs typeface="+mn-lt" charset="0"/>
                      </a:endParaRPr>
                    </a:p>
                  </a:txBody>
                  <a:tcPr marL="54864" marR="54864" marT="54864" marB="54864"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bl>
          </a:graphicData>
        </a:graphic>
      </p:graphicFrame>
      <p:sp>
        <p:nvSpPr>
          <p:cNvPr id="4" name="Text 1"/>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00" dirty="0">
                <a:solidFill>
                  <a:schemeClr val="accent3"/>
                </a:solidFill>
                <a:latin typeface="+mn-lt" pitchFamily="34" charset="0"/>
                <a:ea typeface="+mn-lt" pitchFamily="34" charset="-122"/>
                <a:cs typeface="+mn-lt" pitchFamily="34" charset="-120"/>
              </a:rPr>
              <a:t>Full log: docs/ASSUMPTIONS_LOG.md. High-impact rows come first.</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97280"/>
          </a:xfrm>
          <a:prstGeom prst="rect">
            <a:avLst/>
          </a:prstGeom>
          <a:noFill/>
          <a:ln/>
        </p:spPr>
        <p:txBody>
          <a:bodyPr wrap="square" lIns="0" tIns="0" rIns="0" bIns="0" rtlCol="0" anchor="t"/>
          <a:lstStyle/>
          <a:p>
            <a:pPr algn="l" indent="0" marL="0">
              <a:buNone/>
            </a:pPr>
            <a:r>
              <a:rPr lang="en-US" sz="3600" b="1" dirty="0">
                <a:solidFill>
                  <a:schemeClr val="tx2"/>
                </a:solidFill>
              </a:rPr>
              <a:t>Appendix: every loan was kept, and unknown values stay visible</a:t>
            </a:r>
            <a:endParaRPr lang="en-US" sz="3600" dirty="0"/>
          </a:p>
        </p:txBody>
      </p:sp>
      <p:graphicFrame>
        <p:nvGraphicFramePr>
          <p:cNvPr id="18" name="dq-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474720"/>
                <a:gridCol w="2011680"/>
                <a:gridCol w="5608015"/>
              </a:tblGrid>
              <a:tr h="0">
                <a:tc>
                  <a:txBody>
                    <a:bodyPr/>
                    <a:lstStyle/>
                    <a:p>
                      <a:pPr indent="0" marL="0">
                        <a:buNone/>
                      </a:pPr>
                      <a:r>
                        <a:rPr lang="en-US" sz="1400" b="1" dirty="0">
                          <a:solidFill>
                            <a:schemeClr val="bg1"/>
                          </a:solidFill>
                          <a:latin typeface="+mn-lt" pitchFamily="34" charset="0"/>
                          <a:ea typeface="+mn-lt" pitchFamily="34" charset="-122"/>
                          <a:cs typeface="+mn-lt" pitchFamily="34" charset="-120"/>
                        </a:rPr>
                        <a:t>Issue in the source data</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How many</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How it was handled</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latin typeface="+mn-lt" pitchFamily="34" charset="0"/>
                          <a:ea typeface="+mn-lt" pitchFamily="34" charset="-122"/>
                          <a:cs typeface="+mn-lt" pitchFamily="34" charset="-120"/>
                        </a:rPr>
                        <a:t>Years employed missing</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500 customers</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23 unemployed set to 0; the rest left blank, flagged</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400" dirty="0">
                          <a:solidFill>
                            <a:schemeClr val="tx1"/>
                          </a:solidFill>
                          <a:latin typeface="+mn-lt" pitchFamily="34" charset="0"/>
                          <a:ea typeface="+mn-lt" pitchFamily="34" charset="-122"/>
                          <a:cs typeface="+mn-lt" pitchFamily="34" charset="-120"/>
                        </a:rPr>
                        <a:t>Dependents missing</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500 customers</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Left blank and flagged; unknown is not zero</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400" dirty="0">
                          <a:solidFill>
                            <a:schemeClr val="tx1"/>
                          </a:solidFill>
                          <a:latin typeface="+mn-lt" pitchFamily="34" charset="0"/>
                          <a:ea typeface="+mn-lt" pitchFamily="34" charset="-122"/>
                          <a:cs typeface="+mn-lt" pitchFamily="34" charset="-120"/>
                        </a:rPr>
                        <a:t>Years at address missing</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500 customers</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Left blank and flagged</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400" dirty="0">
                          <a:solidFill>
                            <a:schemeClr val="tx1"/>
                          </a:solidFill>
                          <a:latin typeface="+mn-lt" pitchFamily="34" charset="0"/>
                          <a:ea typeface="+mn-lt" pitchFamily="34" charset="-122"/>
                          <a:cs typeface="+mn-lt" pitchFamily="34" charset="-120"/>
                        </a:rPr>
                        <a:t>Interest rate missing</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294 loans</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Left blank and flagged; not a model input</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400" dirty="0">
                          <a:solidFill>
                            <a:schemeClr val="tx1"/>
                          </a:solidFill>
                          <a:latin typeface="+mn-lt" pitchFamily="34" charset="0"/>
                          <a:ea typeface="+mn-lt" pitchFamily="34" charset="-122"/>
                          <a:cs typeface="+mn-lt" pitchFamily="34" charset="-120"/>
                        </a:rPr>
                        <a:t>Bureau days overdue missing</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689 credit lines</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Left blank; summaries use known values and report coverage</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400" dirty="0">
                          <a:solidFill>
                            <a:schemeClr val="tx1"/>
                          </a:solidFill>
                          <a:latin typeface="+mn-lt" pitchFamily="34" charset="0"/>
                          <a:ea typeface="+mn-lt" pitchFamily="34" charset="-122"/>
                          <a:cs typeface="+mn-lt" pitchFamily="34" charset="-120"/>
                        </a:rPr>
                        <a:t>No bureau record</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1,008 customers</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Own group with a flag; not treated as zero debt</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400" dirty="0">
                          <a:solidFill>
                            <a:schemeClr val="tx1"/>
                          </a:solidFill>
                          <a:latin typeface="+mn-lt" pitchFamily="34" charset="0"/>
                          <a:ea typeface="+mn-lt" pitchFamily="34" charset="-122"/>
                          <a:cs typeface="+mn-lt" pitchFamily="34" charset="-120"/>
                        </a:rPr>
                        <a:t>Gender coded M/F</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600 customers</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Mapped to Male/Female</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r h="0">
                <a:tc>
                  <a:txBody>
                    <a:bodyPr/>
                    <a:lstStyle/>
                    <a:p>
                      <a:pPr indent="0" marL="0">
                        <a:buNone/>
                      </a:pPr>
                      <a:r>
                        <a:rPr lang="en-US" sz="1400" dirty="0">
                          <a:solidFill>
                            <a:schemeClr val="tx1"/>
                          </a:solidFill>
                          <a:latin typeface="+mn-lt" pitchFamily="34" charset="0"/>
                          <a:ea typeface="+mn-lt" pitchFamily="34" charset="-122"/>
                          <a:cs typeface="+mn-lt" pitchFamily="34" charset="-120"/>
                        </a:rPr>
                        <a:t>Years employed above age minus 18</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1,004 customers</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Capped at age minus 18 and flagged</a:t>
                      </a:r>
                      <a:endParaRPr lang="en-US" sz="1400" dirty="0">
                        <a:latin typeface="+mn-lt" charset="0"/>
                        <a:ea typeface="+mn-lt" charset="0"/>
                        <a:cs typeface="+mn-lt" charset="0"/>
                      </a:endParaRPr>
                    </a:p>
                  </a:txBody>
                  <a:tcPr marL="73152" marR="73152" marT="73152" marB="73152" anchor="ctr">
                    <a:lnL w="6350" cap="flat" cmpd="sng" algn="ctr">
                      <a:solidFill>
                        <a:srgbClr val="CBD3DD"/>
                      </a:solidFill>
                      <a:prstDash val="solid"/>
                      <a:round/>
                      <a:headEnd type="none" w="med" len="med"/>
                      <a:tailEnd type="none" w="med" len="med"/>
                    </a:lnL>
                    <a:lnR w="6350" cap="flat" cmpd="sng" algn="ctr">
                      <a:solidFill>
                        <a:srgbClr val="CBD3DD"/>
                      </a:solidFill>
                      <a:prstDash val="solid"/>
                      <a:round/>
                      <a:headEnd type="none" w="med" len="med"/>
                      <a:tailEnd type="none" w="med" len="med"/>
                    </a:lnR>
                    <a:lnT w="6350" cap="flat" cmpd="sng" algn="ctr">
                      <a:solidFill>
                        <a:srgbClr val="CBD3DD"/>
                      </a:solidFill>
                      <a:prstDash val="solid"/>
                      <a:round/>
                      <a:headEnd type="none" w="med" len="med"/>
                      <a:tailEnd type="none" w="med" len="med"/>
                    </a:lnT>
                    <a:lnB w="6350" cap="flat" cmpd="sng" algn="ctr">
                      <a:solidFill>
                        <a:srgbClr val="CBD3DD"/>
                      </a:solidFill>
                      <a:prstDash val="solid"/>
                      <a:round/>
                      <a:headEnd type="none" w="med" len="med"/>
                      <a:tailEnd type="none" w="med" len="med"/>
                    </a:lnB>
                  </a:tcPr>
                </a:tc>
              </a:tr>
            </a:tbl>
          </a:graphicData>
        </a:graphic>
      </p:graphicFrame>
      <p:sp>
        <p:nvSpPr>
          <p:cNvPr id="4" name="Text 1"/>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00" dirty="0">
                <a:solidFill>
                  <a:schemeClr val="accent3"/>
                </a:solidFill>
                <a:latin typeface="+mn-lt" pitchFamily="34" charset="0"/>
                <a:ea typeface="+mn-lt" pitchFamily="34" charset="-122"/>
                <a:cs typeface="+mn-lt" pitchFamily="34" charset="-120"/>
              </a:rPr>
              <a:t>Source: reports/data_quality_log.csv. Alternative gap-filling methods (mean, KNN, MICE, random draw, zero-fill) changed cross-validated AUC by 0.001 or less.</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7C8F"/>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Credit Risk Workspace">
  <a:themeElements>
    <a:clrScheme name="Credit Risk Workspace">
      <a:dk1>
        <a:srgbClr val="1B2333"/>
      </a:dk1>
      <a:lt1>
        <a:srgbClr val="FFFFFF"/>
      </a:lt1>
      <a:dk2>
        <a:srgbClr val="14213D"/>
      </a:dk2>
      <a:lt2>
        <a:srgbClr val="F1F4F8"/>
      </a:lt2>
      <a:accent1>
        <a:srgbClr val="007C99"/>
      </a:accent1>
      <a:accent2>
        <a:srgbClr val="C2412D"/>
      </a:accent2>
      <a:accent3>
        <a:srgbClr val="6F7C8F"/>
      </a:accent3>
      <a:accent4>
        <a:srgbClr val="D9A441"/>
      </a:accent4>
      <a:accent5>
        <a:srgbClr val="4F6D7A"/>
      </a:accent5>
      <a:accent6>
        <a:srgbClr val="CBD3DD"/>
      </a:accent6>
      <a:hlink>
        <a:srgbClr val="007C99"/>
      </a:hlink>
      <a:folHlink>
        <a:srgbClr val="4F6D7A"/>
      </a:folHlink>
    </a:clrScheme>
    <a:fontScheme name="Credit Risk Workspa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Risk Workspace: briefing for the Chief Risk Officer</dc:title>
  <dc:subject>Credit risk portfolio analytics, model and AI assistant</dc:subject>
  <dc:creator>PptxGenJS</dc:creator>
  <cp:lastModifiedBy>PptxGenJS</cp:lastModifiedBy>
  <cp:revision>1</cp:revision>
  <dcterms:created xsi:type="dcterms:W3CDTF">2026-10-26T22:41:03Z</dcterms:created>
  <dcterms:modified xsi:type="dcterms:W3CDTF">2026-10-26T22:41:03Z</dcterms:modified>
</cp:coreProperties>
</file>